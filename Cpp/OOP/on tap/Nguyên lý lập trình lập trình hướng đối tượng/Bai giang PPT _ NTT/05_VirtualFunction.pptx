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nJNOiZpQHK5TcbGF9XQo4VWBl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4" name="Google Shape;2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0"/>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30"/>
          <p:cNvSpPr/>
          <p:nvPr/>
        </p:nvSpPr>
        <p:spPr>
          <a:xfrm>
            <a:off x="1" y="1128714"/>
            <a:ext cx="12191999" cy="3343275"/>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3"/>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43"/>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32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4"/>
          <p:cNvSpPr txBox="1"/>
          <p:nvPr>
            <p:ph idx="1" type="body"/>
          </p:nvPr>
        </p:nvSpPr>
        <p:spPr>
          <a:xfrm>
            <a:off x="831850"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4"/>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5"/>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6"/>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6"/>
          <p:cNvSpPr txBox="1"/>
          <p:nvPr>
            <p:ph idx="1" type="body"/>
          </p:nvPr>
        </p:nvSpPr>
        <p:spPr>
          <a:xfrm>
            <a:off x="839788" y="1681164"/>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6"/>
          <p:cNvSpPr txBox="1"/>
          <p:nvPr>
            <p:ph idx="3" type="body"/>
          </p:nvPr>
        </p:nvSpPr>
        <p:spPr>
          <a:xfrm>
            <a:off x="6172201" y="1681164"/>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6"/>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6"/>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7"/>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47"/>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3200" u="none" cap="none" strike="noStrike">
                <a:solidFill>
                  <a:schemeClr val="lt1"/>
                </a:solidFill>
                <a:latin typeface="Calibri"/>
                <a:ea typeface="Calibri"/>
                <a:cs typeface="Calibri"/>
                <a:sym typeface="Calibri"/>
              </a:rPr>
              <a:t>Click to edit Master title style</a:t>
            </a:r>
            <a:endParaRPr b="0" i="0" sz="32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48"/>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49"/>
          <p:cNvSpPr txBox="1"/>
          <p:nvPr>
            <p:ph type="title"/>
          </p:nvPr>
        </p:nvSpPr>
        <p:spPr>
          <a:xfrm>
            <a:off x="839789" y="457201"/>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49"/>
          <p:cNvSpPr txBox="1"/>
          <p:nvPr>
            <p:ph idx="1" type="body"/>
          </p:nvPr>
        </p:nvSpPr>
        <p:spPr>
          <a:xfrm>
            <a:off x="5183189" y="987426"/>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49"/>
          <p:cNvSpPr txBox="1"/>
          <p:nvPr>
            <p:ph idx="2" type="body"/>
          </p:nvPr>
        </p:nvSpPr>
        <p:spPr>
          <a:xfrm>
            <a:off x="839789"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49"/>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50"/>
          <p:cNvSpPr txBox="1"/>
          <p:nvPr>
            <p:ph type="title"/>
          </p:nvPr>
        </p:nvSpPr>
        <p:spPr>
          <a:xfrm>
            <a:off x="839789" y="457201"/>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0"/>
          <p:cNvSpPr/>
          <p:nvPr>
            <p:ph idx="2" type="pic"/>
          </p:nvPr>
        </p:nvSpPr>
        <p:spPr>
          <a:xfrm>
            <a:off x="5183189" y="987426"/>
            <a:ext cx="6172200" cy="4873625"/>
          </a:xfrm>
          <a:prstGeom prst="rect">
            <a:avLst/>
          </a:prstGeom>
          <a:noFill/>
          <a:ln>
            <a:noFill/>
          </a:ln>
        </p:spPr>
      </p:sp>
      <p:sp>
        <p:nvSpPr>
          <p:cNvPr id="73" name="Google Shape;73;p50"/>
          <p:cNvSpPr txBox="1"/>
          <p:nvPr>
            <p:ph idx="1" type="body"/>
          </p:nvPr>
        </p:nvSpPr>
        <p:spPr>
          <a:xfrm>
            <a:off x="839789"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50"/>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5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51"/>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5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52"/>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89" name="Shape 89"/>
        <p:cNvGrpSpPr/>
        <p:nvPr/>
      </p:nvGrpSpPr>
      <p:grpSpPr>
        <a:xfrm>
          <a:off x="0" y="0"/>
          <a:ext cx="0" cy="0"/>
          <a:chOff x="0" y="0"/>
          <a:chExt cx="0" cy="0"/>
        </a:xfrm>
      </p:grpSpPr>
      <p:sp>
        <p:nvSpPr>
          <p:cNvPr id="90" name="Google Shape;90;p53"/>
          <p:cNvSpPr/>
          <p:nvPr/>
        </p:nvSpPr>
        <p:spPr>
          <a:xfrm>
            <a:off x="1" y="1128714"/>
            <a:ext cx="12191999" cy="3343275"/>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53"/>
          <p:cNvSpPr txBox="1"/>
          <p:nvPr>
            <p:ph idx="1" type="subTitle"/>
          </p:nvPr>
        </p:nvSpPr>
        <p:spPr>
          <a:xfrm>
            <a:off x="1335087" y="4879181"/>
            <a:ext cx="9753600" cy="17002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1800"/>
              <a:buFont typeface="Noto Sans Symbols"/>
              <a:buNone/>
              <a:defRPr sz="1800">
                <a:latin typeface="Verdana"/>
                <a:ea typeface="Verdana"/>
                <a:cs typeface="Verdana"/>
                <a:sym typeface="Verdana"/>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92" name="Google Shape;92;p53"/>
          <p:cNvSpPr txBox="1"/>
          <p:nvPr>
            <p:ph type="title"/>
          </p:nvPr>
        </p:nvSpPr>
        <p:spPr>
          <a:xfrm>
            <a:off x="863599" y="1971676"/>
            <a:ext cx="10464800" cy="13922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54"/>
          <p:cNvSpPr txBox="1"/>
          <p:nvPr/>
        </p:nvSpPr>
        <p:spPr>
          <a:xfrm>
            <a:off x="609600" y="307976"/>
            <a:ext cx="10464800" cy="56356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3200" u="none" cap="none" strike="noStrike">
              <a:solidFill>
                <a:schemeClr val="lt1"/>
              </a:solidFill>
              <a:latin typeface="Calibri"/>
              <a:ea typeface="Calibri"/>
              <a:cs typeface="Calibri"/>
              <a:sym typeface="Calibri"/>
            </a:endParaRPr>
          </a:p>
        </p:txBody>
      </p:sp>
      <p:sp>
        <p:nvSpPr>
          <p:cNvPr id="95" name="Google Shape;95;p54"/>
          <p:cNvSpPr txBox="1"/>
          <p:nvPr>
            <p:ph idx="1" type="body"/>
          </p:nvPr>
        </p:nvSpPr>
        <p:spPr>
          <a:xfrm>
            <a:off x="609601" y="1107645"/>
            <a:ext cx="11363325"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54"/>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9" name="Shape 99"/>
        <p:cNvGrpSpPr/>
        <p:nvPr/>
      </p:nvGrpSpPr>
      <p:grpSpPr>
        <a:xfrm>
          <a:off x="0" y="0"/>
          <a:ext cx="0" cy="0"/>
          <a:chOff x="0" y="0"/>
          <a:chExt cx="0" cy="0"/>
        </a:xfrm>
      </p:grpSpPr>
      <p:sp>
        <p:nvSpPr>
          <p:cNvPr id="100" name="Google Shape;100;p55"/>
          <p:cNvSpPr txBox="1"/>
          <p:nvPr>
            <p:ph idx="1" type="body"/>
          </p:nvPr>
        </p:nvSpPr>
        <p:spPr>
          <a:xfrm>
            <a:off x="609601" y="1343025"/>
            <a:ext cx="5384800"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55"/>
          <p:cNvSpPr txBox="1"/>
          <p:nvPr>
            <p:ph idx="2" type="body"/>
          </p:nvPr>
        </p:nvSpPr>
        <p:spPr>
          <a:xfrm>
            <a:off x="6197600" y="1343025"/>
            <a:ext cx="5384800" cy="51371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55"/>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105" name="Shape 105"/>
        <p:cNvGrpSpPr/>
        <p:nvPr/>
      </p:nvGrpSpPr>
      <p:grpSpPr>
        <a:xfrm>
          <a:off x="0" y="0"/>
          <a:ext cx="0" cy="0"/>
          <a:chOff x="0" y="0"/>
          <a:chExt cx="0" cy="0"/>
        </a:xfrm>
      </p:grpSpPr>
      <p:sp>
        <p:nvSpPr>
          <p:cNvPr id="106" name="Google Shape;106;p56"/>
          <p:cNvSpPr txBox="1"/>
          <p:nvPr>
            <p:ph idx="1" type="body"/>
          </p:nvPr>
        </p:nvSpPr>
        <p:spPr>
          <a:xfrm>
            <a:off x="840319" y="1681164"/>
            <a:ext cx="515831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7" name="Google Shape;107;p56"/>
          <p:cNvSpPr txBox="1"/>
          <p:nvPr>
            <p:ph idx="2" type="body"/>
          </p:nvPr>
        </p:nvSpPr>
        <p:spPr>
          <a:xfrm>
            <a:off x="840319" y="2505075"/>
            <a:ext cx="5158316"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56"/>
          <p:cNvSpPr txBox="1"/>
          <p:nvPr>
            <p:ph idx="3" type="body"/>
          </p:nvPr>
        </p:nvSpPr>
        <p:spPr>
          <a:xfrm>
            <a:off x="6172200" y="1681164"/>
            <a:ext cx="518371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9" name="Google Shape;109;p56"/>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56"/>
          <p:cNvSpPr txBox="1"/>
          <p:nvPr>
            <p:ph type="title"/>
          </p:nvPr>
        </p:nvSpPr>
        <p:spPr>
          <a:xfrm>
            <a:off x="607639"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13" name="Shape 113"/>
        <p:cNvGrpSpPr/>
        <p:nvPr/>
      </p:nvGrpSpPr>
      <p:grpSpPr>
        <a:xfrm>
          <a:off x="0" y="0"/>
          <a:ext cx="0" cy="0"/>
          <a:chOff x="0" y="0"/>
          <a:chExt cx="0" cy="0"/>
        </a:xfrm>
      </p:grpSpPr>
      <p:sp>
        <p:nvSpPr>
          <p:cNvPr id="114" name="Google Shape;114;p57"/>
          <p:cNvSpPr txBox="1"/>
          <p:nvPr>
            <p:ph type="title"/>
          </p:nvPr>
        </p:nvSpPr>
        <p:spPr>
          <a:xfrm>
            <a:off x="609600" y="308703"/>
            <a:ext cx="10464800" cy="563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3" name="Shape 123"/>
        <p:cNvGrpSpPr/>
        <p:nvPr/>
      </p:nvGrpSpPr>
      <p:grpSpPr>
        <a:xfrm>
          <a:off x="0" y="0"/>
          <a:ext cx="0" cy="0"/>
          <a:chOff x="0" y="0"/>
          <a:chExt cx="0" cy="0"/>
        </a:xfrm>
      </p:grpSpPr>
      <p:sp>
        <p:nvSpPr>
          <p:cNvPr id="124" name="Google Shape;12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9" name="Shape 129"/>
        <p:cNvGrpSpPr/>
        <p:nvPr/>
      </p:nvGrpSpPr>
      <p:grpSpPr>
        <a:xfrm>
          <a:off x="0" y="0"/>
          <a:ext cx="0" cy="0"/>
          <a:chOff x="0" y="0"/>
          <a:chExt cx="0" cy="0"/>
        </a:xfrm>
      </p:grpSpPr>
      <p:sp>
        <p:nvSpPr>
          <p:cNvPr id="130" name="Google Shape;130;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32" name="Google Shape;13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4" name="Shape 144"/>
        <p:cNvGrpSpPr/>
        <p:nvPr/>
      </p:nvGrpSpPr>
      <p:grpSpPr>
        <a:xfrm>
          <a:off x="0" y="0"/>
          <a:ext cx="0" cy="0"/>
          <a:chOff x="0" y="0"/>
          <a:chExt cx="0" cy="0"/>
        </a:xfrm>
      </p:grpSpPr>
      <p:sp>
        <p:nvSpPr>
          <p:cNvPr id="145" name="Google Shape;145;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7" name="Google Shape;14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0" name="Shape 150"/>
        <p:cNvGrpSpPr/>
        <p:nvPr/>
      </p:nvGrpSpPr>
      <p:grpSpPr>
        <a:xfrm>
          <a:off x="0" y="0"/>
          <a:ext cx="0" cy="0"/>
          <a:chOff x="0" y="0"/>
          <a:chExt cx="0" cy="0"/>
        </a:xfrm>
      </p:grpSpPr>
      <p:sp>
        <p:nvSpPr>
          <p:cNvPr id="151" name="Google Shape;15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3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3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7" name="Shape 157"/>
        <p:cNvGrpSpPr/>
        <p:nvPr/>
      </p:nvGrpSpPr>
      <p:grpSpPr>
        <a:xfrm>
          <a:off x="0" y="0"/>
          <a:ext cx="0" cy="0"/>
          <a:chOff x="0" y="0"/>
          <a:chExt cx="0" cy="0"/>
        </a:xfrm>
      </p:grpSpPr>
      <p:sp>
        <p:nvSpPr>
          <p:cNvPr id="158" name="Google Shape;158;p3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0" name="Google Shape;160;p3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3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2" name="Google Shape;162;p3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6" name="Shape 166"/>
        <p:cNvGrpSpPr/>
        <p:nvPr/>
      </p:nvGrpSpPr>
      <p:grpSpPr>
        <a:xfrm>
          <a:off x="0" y="0"/>
          <a:ext cx="0" cy="0"/>
          <a:chOff x="0" y="0"/>
          <a:chExt cx="0" cy="0"/>
        </a:xfrm>
      </p:grpSpPr>
      <p:sp>
        <p:nvSpPr>
          <p:cNvPr id="167" name="Google Shape;167;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69" name="Google Shape;169;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0" name="Google Shape;17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3" name="Shape 173"/>
        <p:cNvGrpSpPr/>
        <p:nvPr/>
      </p:nvGrpSpPr>
      <p:grpSpPr>
        <a:xfrm>
          <a:off x="0" y="0"/>
          <a:ext cx="0" cy="0"/>
          <a:chOff x="0" y="0"/>
          <a:chExt cx="0" cy="0"/>
        </a:xfrm>
      </p:grpSpPr>
      <p:sp>
        <p:nvSpPr>
          <p:cNvPr id="174" name="Google Shape;174;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40"/>
          <p:cNvSpPr/>
          <p:nvPr>
            <p:ph idx="2" type="pic"/>
          </p:nvPr>
        </p:nvSpPr>
        <p:spPr>
          <a:xfrm>
            <a:off x="5183188" y="987425"/>
            <a:ext cx="6172200" cy="4873625"/>
          </a:xfrm>
          <a:prstGeom prst="rect">
            <a:avLst/>
          </a:prstGeom>
          <a:noFill/>
          <a:ln>
            <a:noFill/>
          </a:ln>
        </p:spPr>
      </p:sp>
      <p:sp>
        <p:nvSpPr>
          <p:cNvPr id="176" name="Google Shape;176;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7" name="Google Shape;17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0" name="Shape 180"/>
        <p:cNvGrpSpPr/>
        <p:nvPr/>
      </p:nvGrpSpPr>
      <p:grpSpPr>
        <a:xfrm>
          <a:off x="0" y="0"/>
          <a:ext cx="0" cy="0"/>
          <a:chOff x="0" y="0"/>
          <a:chExt cx="0" cy="0"/>
        </a:xfrm>
      </p:grpSpPr>
      <p:sp>
        <p:nvSpPr>
          <p:cNvPr id="181" name="Google Shape;181;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6" name="Shape 186"/>
        <p:cNvGrpSpPr/>
        <p:nvPr/>
      </p:nvGrpSpPr>
      <p:grpSpPr>
        <a:xfrm>
          <a:off x="0" y="0"/>
          <a:ext cx="0" cy="0"/>
          <a:chOff x="0" y="0"/>
          <a:chExt cx="0" cy="0"/>
        </a:xfrm>
      </p:grpSpPr>
      <p:sp>
        <p:nvSpPr>
          <p:cNvPr id="187" name="Google Shape;187;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2" Type="http://schemas.openxmlformats.org/officeDocument/2006/relationships/theme" Target="../theme/theme2.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1"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9"/>
          <p:cNvSpPr/>
          <p:nvPr/>
        </p:nvSpPr>
        <p:spPr>
          <a:xfrm>
            <a:off x="609601" y="247586"/>
            <a:ext cx="10520363" cy="685799"/>
          </a:xfrm>
          <a:prstGeom prst="snip1Rect">
            <a:avLst>
              <a:gd fmla="val 16667" name="adj"/>
            </a:avLst>
          </a:prstGeom>
          <a:solidFill>
            <a:srgbClr val="1F3864"/>
          </a:solidFill>
          <a:ln cap="flat" cmpd="sng" w="12700">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6" name="Google Shape;16;p29"/>
          <p:cNvPicPr preferRelativeResize="0"/>
          <p:nvPr/>
        </p:nvPicPr>
        <p:blipFill rotWithShape="1">
          <a:blip r:embed="rId1">
            <a:alphaModFix/>
          </a:blip>
          <a:srcRect b="0" l="0" r="0" t="0"/>
          <a:stretch/>
        </p:blipFill>
        <p:spPr>
          <a:xfrm>
            <a:off x="11160656" y="1"/>
            <a:ext cx="1022350" cy="10223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1" name="Google Shape;12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2" name="Google Shape;12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1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10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1000"/>
                                        <p:tgtEl>
                                          <p:spTgt spid="1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animEffect filter="fade" transition="in">
                                      <p:cBhvr>
                                        <p:cTn dur="1000"/>
                                        <p:tgtEl>
                                          <p:spTgt spid="1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animEffect filter="fade" transition="in">
                                      <p:cBhvr>
                                        <p:cTn dur="1000"/>
                                        <p:tgtEl>
                                          <p:spTgt spid="11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1"/>
          <p:cNvSpPr/>
          <p:nvPr/>
        </p:nvSpPr>
        <p:spPr>
          <a:xfrm>
            <a:off x="160" y="90"/>
            <a:ext cx="12191680" cy="68578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1"/>
          <p:cNvSpPr txBox="1"/>
          <p:nvPr>
            <p:ph type="ctrTitle"/>
          </p:nvPr>
        </p:nvSpPr>
        <p:spPr>
          <a:xfrm>
            <a:off x="532125" y="3221531"/>
            <a:ext cx="11312471" cy="204400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FFFFFF"/>
              </a:buClr>
              <a:buSzPct val="100000"/>
              <a:buFont typeface="Calibri"/>
              <a:buNone/>
            </a:pPr>
            <a:r>
              <a:rPr lang="en-US" sz="4800">
                <a:solidFill>
                  <a:srgbClr val="FFFFFF"/>
                </a:solidFill>
              </a:rPr>
              <a:t>NGUYÊN LÝ LẬP TRÌNH HƯỚNG ĐỐI TƯỢNG</a:t>
            </a:r>
            <a:br>
              <a:rPr lang="en-US" sz="4800">
                <a:solidFill>
                  <a:srgbClr val="FFFFFF"/>
                </a:solidFill>
              </a:rPr>
            </a:br>
            <a:br>
              <a:rPr lang="en-US" sz="4800">
                <a:solidFill>
                  <a:srgbClr val="FFFFFF"/>
                </a:solidFill>
              </a:rPr>
            </a:br>
            <a:r>
              <a:rPr lang="en-US" sz="4800">
                <a:solidFill>
                  <a:srgbClr val="FFFFFF"/>
                </a:solidFill>
              </a:rPr>
              <a:t>Bài 5: Hàm ảo và Tính đa hình</a:t>
            </a:r>
            <a:endParaRPr b="1" sz="4800">
              <a:solidFill>
                <a:srgbClr val="FFFFFF"/>
              </a:solidFill>
              <a:highlight>
                <a:srgbClr val="808000"/>
              </a:highlight>
            </a:endParaRPr>
          </a:p>
        </p:txBody>
      </p:sp>
      <p:sp>
        <p:nvSpPr>
          <p:cNvPr id="199" name="Google Shape;199;p1"/>
          <p:cNvSpPr/>
          <p:nvPr/>
        </p:nvSpPr>
        <p:spPr>
          <a:xfrm>
            <a:off x="5025943" y="889318"/>
            <a:ext cx="2140116" cy="2140116"/>
          </a:xfrm>
          <a:prstGeom prst="ellipse">
            <a:avLst/>
          </a:prstGeom>
          <a:solidFill>
            <a:srgbClr val="FFFFFF"/>
          </a:solidFill>
          <a:ln cap="flat" cmpd="sng" w="19050">
            <a:solidFill>
              <a:srgbClr val="001BC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con&#10;&#10;Description automatically generated" id="200" name="Google Shape;200;p1"/>
          <p:cNvPicPr preferRelativeResize="0"/>
          <p:nvPr/>
        </p:nvPicPr>
        <p:blipFill rotWithShape="1">
          <a:blip r:embed="rId3">
            <a:alphaModFix/>
          </a:blip>
          <a:srcRect b="0" l="0" r="0" t="0"/>
          <a:stretch/>
        </p:blipFill>
        <p:spPr>
          <a:xfrm>
            <a:off x="5508279" y="1371655"/>
            <a:ext cx="1175443" cy="1175443"/>
          </a:xfrm>
          <a:prstGeom prst="rect">
            <a:avLst/>
          </a:prstGeom>
          <a:noFill/>
          <a:ln>
            <a:noFill/>
          </a:ln>
        </p:spPr>
      </p:pic>
      <p:sp>
        <p:nvSpPr>
          <p:cNvPr id="201" name="Google Shape;201;p1"/>
          <p:cNvSpPr/>
          <p:nvPr/>
        </p:nvSpPr>
        <p:spPr>
          <a:xfrm>
            <a:off x="6003635" y="71339"/>
            <a:ext cx="18473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2"/>
          <p:cNvSpPr txBox="1"/>
          <p:nvPr>
            <p:ph type="title"/>
          </p:nvPr>
        </p:nvSpPr>
        <p:spPr>
          <a:xfrm>
            <a:off x="635000" y="640823"/>
            <a:ext cx="3418659" cy="55831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NỘI DUNG</a:t>
            </a:r>
            <a:endParaRPr/>
          </a:p>
        </p:txBody>
      </p:sp>
      <p:sp>
        <p:nvSpPr>
          <p:cNvPr id="208" name="Google Shape;208;p2"/>
          <p:cNvSpPr/>
          <p:nvPr/>
        </p:nvSpPr>
        <p:spPr>
          <a:xfrm rot="5400000">
            <a:off x="1627450" y="3462719"/>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9" name="Google Shape;20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Clr>
                <a:schemeClr val="dk2"/>
              </a:buClr>
              <a:buSzPts val="1800"/>
              <a:buFont typeface="Arial"/>
              <a:buNone/>
            </a:pPr>
            <a:fld id="{00000000-1234-1234-1234-123412341234}" type="slidenum">
              <a:rPr b="0" i="0" lang="en-US" sz="1800" u="none" cap="none" strike="noStrike">
                <a:solidFill>
                  <a:schemeClr val="dk2"/>
                </a:solidFill>
                <a:latin typeface="Arial"/>
                <a:ea typeface="Arial"/>
                <a:cs typeface="Arial"/>
                <a:sym typeface="Arial"/>
              </a:rPr>
              <a:t>‹#›</a:t>
            </a:fld>
            <a:endParaRPr b="0" i="0" sz="1800" u="none" cap="none" strike="noStrike">
              <a:solidFill>
                <a:schemeClr val="dk2"/>
              </a:solidFill>
              <a:latin typeface="Arial"/>
              <a:ea typeface="Arial"/>
              <a:cs typeface="Arial"/>
              <a:sym typeface="Arial"/>
            </a:endParaRPr>
          </a:p>
        </p:txBody>
      </p:sp>
      <p:grpSp>
        <p:nvGrpSpPr>
          <p:cNvPr id="210" name="Google Shape;210;p2"/>
          <p:cNvGrpSpPr/>
          <p:nvPr/>
        </p:nvGrpSpPr>
        <p:grpSpPr>
          <a:xfrm>
            <a:off x="4648018" y="643525"/>
            <a:ext cx="6900512" cy="5530734"/>
            <a:chOff x="0" y="2703"/>
            <a:chExt cx="6900512" cy="5530734"/>
          </a:xfrm>
        </p:grpSpPr>
        <p:cxnSp>
          <p:nvCxnSpPr>
            <p:cNvPr id="211" name="Google Shape;211;p2"/>
            <p:cNvCxnSpPr/>
            <p:nvPr/>
          </p:nvCxnSpPr>
          <p:spPr>
            <a:xfrm>
              <a:off x="0" y="2703"/>
              <a:ext cx="6900512" cy="0"/>
            </a:xfrm>
            <a:prstGeom prst="straightConnector1">
              <a:avLst/>
            </a:prstGeom>
            <a:solidFill>
              <a:schemeClr val="accent2"/>
            </a:solidFill>
            <a:ln cap="flat" cmpd="sng" w="12700">
              <a:solidFill>
                <a:schemeClr val="accent2"/>
              </a:solidFill>
              <a:prstDash val="solid"/>
              <a:miter lim="800000"/>
              <a:headEnd len="sm" w="sm" type="none"/>
              <a:tailEnd len="sm" w="sm" type="none"/>
            </a:ln>
          </p:spPr>
        </p:cxnSp>
        <p:sp>
          <p:nvSpPr>
            <p:cNvPr id="212" name="Google Shape;212;p2"/>
            <p:cNvSpPr/>
            <p:nvPr/>
          </p:nvSpPr>
          <p:spPr>
            <a:xfrm>
              <a:off x="0" y="2703"/>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txBox="1"/>
            <p:nvPr/>
          </p:nvSpPr>
          <p:spPr>
            <a:xfrm>
              <a:off x="0" y="2703"/>
              <a:ext cx="6900512" cy="1843578"/>
            </a:xfrm>
            <a:prstGeom prst="rect">
              <a:avLst/>
            </a:prstGeom>
            <a:noFill/>
            <a:ln>
              <a:noFill/>
            </a:ln>
          </p:spPr>
          <p:txBody>
            <a:bodyPr anchorCtr="0" anchor="t" bIns="217150" lIns="217150" spcFirstLastPara="1" rIns="217150" wrap="square" tIns="217150">
              <a:noAutofit/>
            </a:bodyPr>
            <a:lstStyle/>
            <a:p>
              <a:pPr indent="0" lvl="0" marL="0" marR="0" rtl="0" algn="l">
                <a:lnSpc>
                  <a:spcPct val="90000"/>
                </a:lnSpc>
                <a:spcBef>
                  <a:spcPts val="0"/>
                </a:spcBef>
                <a:spcAft>
                  <a:spcPts val="0"/>
                </a:spcAft>
                <a:buClr>
                  <a:schemeClr val="dk1"/>
                </a:buClr>
                <a:buSzPts val="5700"/>
                <a:buFont typeface="Calibri"/>
                <a:buNone/>
              </a:pPr>
              <a:r>
                <a:rPr b="0" i="0" lang="en-US" sz="5700" u="none" cap="none" strike="noStrike">
                  <a:solidFill>
                    <a:schemeClr val="dk1"/>
                  </a:solidFill>
                  <a:latin typeface="Calibri"/>
                  <a:ea typeface="Calibri"/>
                  <a:cs typeface="Calibri"/>
                  <a:sym typeface="Calibri"/>
                </a:rPr>
                <a:t>Đa hình trong kế thừa</a:t>
              </a:r>
              <a:endParaRPr b="0" i="0" sz="5700" u="none" cap="none" strike="noStrike">
                <a:solidFill>
                  <a:schemeClr val="dk1"/>
                </a:solidFill>
                <a:latin typeface="Calibri"/>
                <a:ea typeface="Calibri"/>
                <a:cs typeface="Calibri"/>
                <a:sym typeface="Calibri"/>
              </a:endParaRPr>
            </a:p>
          </p:txBody>
        </p:sp>
        <p:cxnSp>
          <p:nvCxnSpPr>
            <p:cNvPr id="214" name="Google Shape;214;p2"/>
            <p:cNvCxnSpPr/>
            <p:nvPr/>
          </p:nvCxnSpPr>
          <p:spPr>
            <a:xfrm>
              <a:off x="0" y="1846281"/>
              <a:ext cx="6900512" cy="0"/>
            </a:xfrm>
            <a:prstGeom prst="straightConnector1">
              <a:avLst/>
            </a:prstGeom>
            <a:solidFill>
              <a:schemeClr val="accent3"/>
            </a:solidFill>
            <a:ln cap="flat" cmpd="sng" w="12700">
              <a:solidFill>
                <a:schemeClr val="accent3"/>
              </a:solidFill>
              <a:prstDash val="solid"/>
              <a:miter lim="800000"/>
              <a:headEnd len="sm" w="sm" type="none"/>
              <a:tailEnd len="sm" w="sm" type="none"/>
            </a:ln>
          </p:spPr>
        </p:cxnSp>
        <p:sp>
          <p:nvSpPr>
            <p:cNvPr id="215" name="Google Shape;215;p2"/>
            <p:cNvSpPr/>
            <p:nvPr/>
          </p:nvSpPr>
          <p:spPr>
            <a:xfrm>
              <a:off x="0" y="1846281"/>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txBox="1"/>
            <p:nvPr/>
          </p:nvSpPr>
          <p:spPr>
            <a:xfrm>
              <a:off x="0" y="1846281"/>
              <a:ext cx="6900512" cy="1843578"/>
            </a:xfrm>
            <a:prstGeom prst="rect">
              <a:avLst/>
            </a:prstGeom>
            <a:noFill/>
            <a:ln>
              <a:noFill/>
            </a:ln>
          </p:spPr>
          <p:txBody>
            <a:bodyPr anchorCtr="0" anchor="t" bIns="217150" lIns="217150" spcFirstLastPara="1" rIns="217150" wrap="square" tIns="217150">
              <a:noAutofit/>
            </a:bodyPr>
            <a:lstStyle/>
            <a:p>
              <a:pPr indent="0" lvl="0" marL="0" marR="0" rtl="0" algn="l">
                <a:lnSpc>
                  <a:spcPct val="90000"/>
                </a:lnSpc>
                <a:spcBef>
                  <a:spcPts val="0"/>
                </a:spcBef>
                <a:spcAft>
                  <a:spcPts val="0"/>
                </a:spcAft>
                <a:buClr>
                  <a:schemeClr val="dk1"/>
                </a:buClr>
                <a:buSzPts val="5700"/>
                <a:buFont typeface="Calibri"/>
                <a:buNone/>
              </a:pPr>
              <a:r>
                <a:rPr b="0" i="0" lang="en-US" sz="5700" u="none" cap="none" strike="noStrike">
                  <a:solidFill>
                    <a:schemeClr val="dk1"/>
                  </a:solidFill>
                  <a:latin typeface="Calibri"/>
                  <a:ea typeface="Calibri"/>
                  <a:cs typeface="Calibri"/>
                  <a:sym typeface="Calibri"/>
                </a:rPr>
                <a:t>Thực thi hàm ảo</a:t>
              </a:r>
              <a:endParaRPr b="0" i="0" sz="5700" u="none" cap="none" strike="noStrike">
                <a:solidFill>
                  <a:schemeClr val="dk1"/>
                </a:solidFill>
                <a:latin typeface="Calibri"/>
                <a:ea typeface="Calibri"/>
                <a:cs typeface="Calibri"/>
                <a:sym typeface="Calibri"/>
              </a:endParaRPr>
            </a:p>
          </p:txBody>
        </p:sp>
        <p:cxnSp>
          <p:nvCxnSpPr>
            <p:cNvPr id="217" name="Google Shape;217;p2"/>
            <p:cNvCxnSpPr/>
            <p:nvPr/>
          </p:nvCxnSpPr>
          <p:spPr>
            <a:xfrm>
              <a:off x="0" y="3689859"/>
              <a:ext cx="6900512" cy="0"/>
            </a:xfrm>
            <a:prstGeom prst="straightConnector1">
              <a:avLst/>
            </a:prstGeom>
            <a:solidFill>
              <a:schemeClr val="accent4"/>
            </a:solidFill>
            <a:ln cap="flat" cmpd="sng" w="12700">
              <a:solidFill>
                <a:schemeClr val="accent4"/>
              </a:solidFill>
              <a:prstDash val="solid"/>
              <a:miter lim="800000"/>
              <a:headEnd len="sm" w="sm" type="none"/>
              <a:tailEnd len="sm" w="sm" type="none"/>
            </a:ln>
          </p:spPr>
        </p:cxnSp>
        <p:sp>
          <p:nvSpPr>
            <p:cNvPr id="218" name="Google Shape;218;p2"/>
            <p:cNvSpPr/>
            <p:nvPr/>
          </p:nvSpPr>
          <p:spPr>
            <a:xfrm>
              <a:off x="0" y="3689859"/>
              <a:ext cx="6900512" cy="184357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txBox="1"/>
            <p:nvPr/>
          </p:nvSpPr>
          <p:spPr>
            <a:xfrm>
              <a:off x="0" y="3689859"/>
              <a:ext cx="6900512" cy="1843578"/>
            </a:xfrm>
            <a:prstGeom prst="rect">
              <a:avLst/>
            </a:prstGeom>
            <a:noFill/>
            <a:ln>
              <a:noFill/>
            </a:ln>
          </p:spPr>
          <p:txBody>
            <a:bodyPr anchorCtr="0" anchor="t" bIns="217150" lIns="217150" spcFirstLastPara="1" rIns="217150" wrap="square" tIns="217150">
              <a:noAutofit/>
            </a:bodyPr>
            <a:lstStyle/>
            <a:p>
              <a:pPr indent="0" lvl="0" marL="0" marR="0" rtl="0" algn="l">
                <a:lnSpc>
                  <a:spcPct val="90000"/>
                </a:lnSpc>
                <a:spcBef>
                  <a:spcPts val="0"/>
                </a:spcBef>
                <a:spcAft>
                  <a:spcPts val="0"/>
                </a:spcAft>
                <a:buClr>
                  <a:schemeClr val="dk1"/>
                </a:buClr>
                <a:buSzPts val="5700"/>
                <a:buFont typeface="Calibri"/>
                <a:buNone/>
              </a:pPr>
              <a:r>
                <a:rPr b="0" i="0" lang="en-US" sz="5700" u="none" cap="none" strike="noStrike">
                  <a:solidFill>
                    <a:schemeClr val="dk1"/>
                  </a:solidFill>
                  <a:latin typeface="Calibri"/>
                  <a:ea typeface="Calibri"/>
                  <a:cs typeface="Calibri"/>
                  <a:sym typeface="Calibri"/>
                </a:rPr>
                <a:t>Con trỏ và hàm ảo</a:t>
              </a:r>
              <a:endParaRPr b="0" i="0" sz="57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5" name="Google Shape;225;p3"/>
          <p:cNvSpPr/>
          <p:nvPr/>
        </p:nvSpPr>
        <p:spPr>
          <a:xfrm>
            <a:off x="1114425" y="0"/>
            <a:ext cx="9963150"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3"/>
          <p:cNvSpPr/>
          <p:nvPr/>
        </p:nvSpPr>
        <p:spPr>
          <a:xfrm>
            <a:off x="1121664" y="0"/>
            <a:ext cx="9948672"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7" name="Google Shape;227;p3"/>
          <p:cNvSpPr txBox="1"/>
          <p:nvPr>
            <p:ph type="title"/>
          </p:nvPr>
        </p:nvSpPr>
        <p:spPr>
          <a:xfrm>
            <a:off x="1524003" y="1999615"/>
            <a:ext cx="9144000" cy="2764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Calibri"/>
              <a:buNone/>
            </a:pPr>
            <a:r>
              <a:rPr lang="en-US" sz="7200">
                <a:solidFill>
                  <a:schemeClr val="dk1"/>
                </a:solidFill>
                <a:latin typeface="Calibri"/>
                <a:ea typeface="Calibri"/>
                <a:cs typeface="Calibri"/>
                <a:sym typeface="Calibri"/>
              </a:rPr>
              <a:t>Đa hình trong kế thừa</a:t>
            </a:r>
            <a:endParaRPr/>
          </a:p>
        </p:txBody>
      </p:sp>
      <p:sp>
        <p:nvSpPr>
          <p:cNvPr id="228" name="Google Shape;228;p3"/>
          <p:cNvSpPr txBox="1"/>
          <p:nvPr>
            <p:ph idx="1" type="body"/>
          </p:nvPr>
        </p:nvSpPr>
        <p:spPr>
          <a:xfrm>
            <a:off x="1966912" y="5645150"/>
            <a:ext cx="8258176" cy="6318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88888"/>
              </a:buClr>
              <a:buSzPts val="2800"/>
              <a:buNone/>
            </a:pPr>
            <a:r>
              <a:t/>
            </a:r>
            <a:endParaRPr sz="2800">
              <a:solidFill>
                <a:schemeClr val="dk1"/>
              </a:solidFill>
              <a:latin typeface="Calibri"/>
              <a:ea typeface="Calibri"/>
              <a:cs typeface="Calibri"/>
              <a:sym typeface="Calibri"/>
            </a:endParaRPr>
          </a:p>
        </p:txBody>
      </p:sp>
      <p:sp>
        <p:nvSpPr>
          <p:cNvPr id="229" name="Google Shape;229;p3"/>
          <p:cNvSpPr/>
          <p:nvPr/>
        </p:nvSpPr>
        <p:spPr>
          <a:xfrm>
            <a:off x="3718560" y="5524786"/>
            <a:ext cx="475488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3"/>
          <p:cNvSpPr txBox="1"/>
          <p:nvPr>
            <p:ph idx="12" type="sldNum"/>
          </p:nvPr>
        </p:nvSpPr>
        <p:spPr>
          <a:xfrm>
            <a:off x="10489019" y="6356350"/>
            <a:ext cx="126881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Đa hình</a:t>
            </a:r>
            <a:br>
              <a:rPr lang="en-US"/>
            </a:br>
            <a:r>
              <a:rPr lang="en-US" sz="2400"/>
              <a:t>(Polymorphism)</a:t>
            </a:r>
            <a:endParaRPr/>
          </a:p>
        </p:txBody>
      </p:sp>
      <p:sp>
        <p:nvSpPr>
          <p:cNvPr id="237" name="Google Shape;23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Xét ví dụ: với cùng là thông điệp “</a:t>
            </a:r>
            <a:r>
              <a:rPr i="1" lang="en-US"/>
              <a:t>nhảy</a:t>
            </a:r>
            <a:r>
              <a:rPr lang="en-US"/>
              <a:t>”, một con kangaroo và một con cóc sẽ nhảy </a:t>
            </a:r>
            <a:r>
              <a:rPr b="1" lang="en-US"/>
              <a:t>hai kiểu khác nhau</a:t>
            </a:r>
            <a:r>
              <a:rPr lang="en-US"/>
              <a:t>. </a:t>
            </a:r>
            <a:endParaRPr/>
          </a:p>
          <a:p>
            <a:pPr indent="-228600" lvl="1" marL="685800" rtl="0" algn="just">
              <a:lnSpc>
                <a:spcPct val="90000"/>
              </a:lnSpc>
              <a:spcBef>
                <a:spcPts val="500"/>
              </a:spcBef>
              <a:spcAft>
                <a:spcPts val="0"/>
              </a:spcAft>
              <a:buClr>
                <a:schemeClr val="dk1"/>
              </a:buClr>
              <a:buSzPts val="2400"/>
              <a:buChar char="•"/>
            </a:pPr>
            <a:r>
              <a:rPr lang="en-US"/>
              <a:t>Chúng có cùng hành vi “</a:t>
            </a:r>
            <a:r>
              <a:rPr i="1" lang="en-US"/>
              <a:t>nhảy</a:t>
            </a:r>
            <a:r>
              <a:rPr lang="en-US"/>
              <a:t>” nhưng nội dung của hành vi này là khác nhau</a:t>
            </a:r>
            <a:endParaRPr/>
          </a:p>
          <a:p>
            <a:pPr indent="-228600" lvl="0" marL="228600" rtl="0" algn="just">
              <a:lnSpc>
                <a:spcPct val="90000"/>
              </a:lnSpc>
              <a:spcBef>
                <a:spcPts val="1000"/>
              </a:spcBef>
              <a:spcAft>
                <a:spcPts val="0"/>
              </a:spcAft>
              <a:buClr>
                <a:schemeClr val="dk1"/>
              </a:buClr>
              <a:buSzPts val="2800"/>
              <a:buChar char="•"/>
            </a:pPr>
            <a:r>
              <a:rPr i="1" lang="en-US"/>
              <a:t>Đa hình </a:t>
            </a:r>
            <a:r>
              <a:rPr lang="en-US"/>
              <a:t>là hiện tượng các đối tượng thuộc các lớp khác nhau </a:t>
            </a:r>
            <a:r>
              <a:rPr b="1" i="1" lang="en-US"/>
              <a:t>hiểu cùng một thông điệp theo các cách khác nhau</a:t>
            </a:r>
            <a:endParaRPr/>
          </a:p>
          <a:p>
            <a:pPr indent="-228600" lvl="0" marL="228600" rtl="0" algn="just">
              <a:lnSpc>
                <a:spcPct val="90000"/>
              </a:lnSpc>
              <a:spcBef>
                <a:spcPts val="1000"/>
              </a:spcBef>
              <a:spcAft>
                <a:spcPts val="0"/>
              </a:spcAft>
              <a:buClr>
                <a:schemeClr val="dk1"/>
              </a:buClr>
              <a:buSzPts val="2800"/>
              <a:buChar char="•"/>
            </a:pPr>
            <a:r>
              <a:rPr lang="en-US"/>
              <a:t>Đa hình là một trong ba trụ cột quan trọng trong OOP</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38" name="Google Shape;23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39" name="Google Shape;239;p4"/>
          <p:cNvPicPr preferRelativeResize="0"/>
          <p:nvPr/>
        </p:nvPicPr>
        <p:blipFill rotWithShape="1">
          <a:blip r:embed="rId3">
            <a:alphaModFix/>
          </a:blip>
          <a:srcRect b="0" l="0" r="0" t="0"/>
          <a:stretch/>
        </p:blipFill>
        <p:spPr>
          <a:xfrm>
            <a:off x="3135214" y="4869161"/>
            <a:ext cx="5553075"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5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5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5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500"/>
                                        <p:tgtEl>
                                          <p:spTgt spid="2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Effect filter="fade" transition="in">
                                      <p:cBhvr>
                                        <p:cTn dur="500"/>
                                        <p:tgtEl>
                                          <p:spTgt spid="2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Effect filter="fade" transition="in">
                                      <p:cBhvr>
                                        <p:cTn dur="500"/>
                                        <p:tgtEl>
                                          <p:spTgt spid="2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animEffect filter="fade" transition="in">
                                      <p:cBhvr>
                                        <p:cTn dur="500"/>
                                        <p:tgtEl>
                                          <p:spTgt spid="23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Hàm ảo</a:t>
            </a:r>
            <a:endParaRPr/>
          </a:p>
        </p:txBody>
      </p:sp>
      <p:sp>
        <p:nvSpPr>
          <p:cNvPr id="246" name="Google Shape;246;p5"/>
          <p:cNvSpPr/>
          <p:nvPr/>
        </p:nvSpPr>
        <p:spPr>
          <a:xfrm>
            <a:off x="669036" y="1677373"/>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5"/>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Hàm ảo cung cấp khả năng đa hình này</a:t>
            </a:r>
            <a:endParaRPr/>
          </a:p>
          <a:p>
            <a:pPr indent="-228600" lvl="0" marL="228600" rtl="0" algn="l">
              <a:lnSpc>
                <a:spcPct val="90000"/>
              </a:lnSpc>
              <a:spcBef>
                <a:spcPts val="1000"/>
              </a:spcBef>
              <a:spcAft>
                <a:spcPts val="0"/>
              </a:spcAft>
              <a:buClr>
                <a:schemeClr val="dk1"/>
              </a:buClr>
              <a:buSzPts val="2400"/>
              <a:buChar char="•"/>
            </a:pPr>
            <a:r>
              <a:rPr lang="en-US" sz="2400"/>
              <a:t>Hàm có thể được “</a:t>
            </a:r>
            <a:r>
              <a:rPr i="1" lang="en-US" sz="2400"/>
              <a:t>sử dụng</a:t>
            </a:r>
            <a:r>
              <a:rPr lang="en-US" sz="2400"/>
              <a:t>” trước khi thực sự được định nghĩa</a:t>
            </a:r>
            <a:endParaRPr/>
          </a:p>
        </p:txBody>
      </p:sp>
      <p:sp>
        <p:nvSpPr>
          <p:cNvPr id="248" name="Google Shape;24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Lớp Figure và các lớp con</a:t>
            </a:r>
            <a:endParaRPr/>
          </a:p>
        </p:txBody>
      </p:sp>
      <p:sp>
        <p:nvSpPr>
          <p:cNvPr id="254" name="Google Shape;25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H:\Downloads\CSE280-VirtualFunction-Figure.png" id="255" name="Google Shape;255;p6"/>
          <p:cNvPicPr preferRelativeResize="0"/>
          <p:nvPr/>
        </p:nvPicPr>
        <p:blipFill rotWithShape="1">
          <a:blip r:embed="rId3">
            <a:alphaModFix/>
          </a:blip>
          <a:srcRect b="0" l="0" r="0" t="0"/>
          <a:stretch/>
        </p:blipFill>
        <p:spPr>
          <a:xfrm>
            <a:off x="1597989" y="1714446"/>
            <a:ext cx="8999525" cy="4466232"/>
          </a:xfrm>
          <a:prstGeom prst="rect">
            <a:avLst/>
          </a:prstGeom>
          <a:noFill/>
          <a:ln>
            <a:noFill/>
          </a:ln>
        </p:spPr>
      </p:pic>
      <p:grpSp>
        <p:nvGrpSpPr>
          <p:cNvPr id="256" name="Google Shape;256;p6"/>
          <p:cNvGrpSpPr/>
          <p:nvPr/>
        </p:nvGrpSpPr>
        <p:grpSpPr>
          <a:xfrm>
            <a:off x="7746124" y="1866360"/>
            <a:ext cx="3464647" cy="770368"/>
            <a:chOff x="1547663" y="5229200"/>
            <a:chExt cx="4661780" cy="914400"/>
          </a:xfrm>
        </p:grpSpPr>
        <p:sp>
          <p:nvSpPr>
            <p:cNvPr id="257" name="Google Shape;257;p6"/>
            <p:cNvSpPr/>
            <p:nvPr/>
          </p:nvSpPr>
          <p:spPr>
            <a:xfrm>
              <a:off x="1547663" y="5229200"/>
              <a:ext cx="1584175" cy="914400"/>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Figure::</a:t>
              </a:r>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Center()</a:t>
              </a:r>
              <a:endParaRPr/>
            </a:p>
          </p:txBody>
        </p:sp>
        <p:sp>
          <p:nvSpPr>
            <p:cNvPr id="258" name="Google Shape;258;p6"/>
            <p:cNvSpPr/>
            <p:nvPr/>
          </p:nvSpPr>
          <p:spPr>
            <a:xfrm>
              <a:off x="4625267" y="5229200"/>
              <a:ext cx="1584176" cy="914400"/>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Figure::</a:t>
              </a:r>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Draw()</a:t>
              </a:r>
              <a:endParaRPr/>
            </a:p>
          </p:txBody>
        </p:sp>
        <p:cxnSp>
          <p:nvCxnSpPr>
            <p:cNvPr id="259" name="Google Shape;259;p6"/>
            <p:cNvCxnSpPr>
              <a:stCxn id="257" idx="3"/>
              <a:endCxn id="258" idx="1"/>
            </p:cNvCxnSpPr>
            <p:nvPr/>
          </p:nvCxnSpPr>
          <p:spPr>
            <a:xfrm>
              <a:off x="3131838" y="5686400"/>
              <a:ext cx="1493400" cy="0"/>
            </a:xfrm>
            <a:prstGeom prst="straightConnector1">
              <a:avLst/>
            </a:prstGeom>
            <a:noFill/>
            <a:ln cap="flat" cmpd="sng" w="9525">
              <a:solidFill>
                <a:schemeClr val="accent1"/>
              </a:solidFill>
              <a:prstDash val="solid"/>
              <a:miter lim="800000"/>
              <a:headEnd len="sm" w="sm" type="none"/>
              <a:tailEnd len="med" w="med" type="stealth"/>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t>Lớp con mới Triangle của lớp Figure</a:t>
            </a:r>
            <a:endParaRPr/>
          </a:p>
        </p:txBody>
      </p:sp>
      <p:sp>
        <p:nvSpPr>
          <p:cNvPr id="265" name="Google Shape;26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H:\Downloads\CSE280-VirtualFunction-Figure (1).png" id="266" name="Google Shape;266;p7"/>
          <p:cNvPicPr preferRelativeResize="0"/>
          <p:nvPr/>
        </p:nvPicPr>
        <p:blipFill rotWithShape="1">
          <a:blip r:embed="rId3">
            <a:alphaModFix/>
          </a:blip>
          <a:srcRect b="0" l="0" r="0" t="0"/>
          <a:stretch/>
        </p:blipFill>
        <p:spPr>
          <a:xfrm>
            <a:off x="1635178" y="1747838"/>
            <a:ext cx="8976912" cy="40574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Giải pháp?</a:t>
            </a:r>
            <a:endParaRPr/>
          </a:p>
        </p:txBody>
      </p:sp>
      <p:sp>
        <p:nvSpPr>
          <p:cNvPr id="272" name="Google Shape;272;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Để giải quyết, chúng ta cần cơ chế tự động lựa chọn -&gt; </a:t>
            </a:r>
            <a:r>
              <a:rPr b="1" lang="en-US"/>
              <a:t>tính đa hình</a:t>
            </a:r>
            <a:endParaRPr b="1"/>
          </a:p>
          <a:p>
            <a:pPr indent="-228600" lvl="0" marL="228600" rtl="0" algn="just">
              <a:lnSpc>
                <a:spcPct val="90000"/>
              </a:lnSpc>
              <a:spcBef>
                <a:spcPts val="1000"/>
              </a:spcBef>
              <a:spcAft>
                <a:spcPts val="0"/>
              </a:spcAft>
              <a:buClr>
                <a:schemeClr val="dk1"/>
              </a:buClr>
              <a:buSzPts val="2800"/>
              <a:buChar char="•"/>
            </a:pPr>
            <a:r>
              <a:rPr lang="en-US"/>
              <a:t>Trong mô hình OO, tính đa hình có nghĩa là các đối tượng khác nhau có thể hoạt động theo những cách khác nhau cho cùng một thông điệp (kích thích)</a:t>
            </a:r>
            <a:endParaRPr/>
          </a:p>
          <a:p>
            <a:pPr indent="-228600" lvl="0" marL="228600" rtl="0" algn="just">
              <a:lnSpc>
                <a:spcPct val="90000"/>
              </a:lnSpc>
              <a:spcBef>
                <a:spcPts val="1000"/>
              </a:spcBef>
              <a:spcAft>
                <a:spcPts val="0"/>
              </a:spcAft>
              <a:buClr>
                <a:schemeClr val="dk1"/>
              </a:buClr>
              <a:buSzPts val="2800"/>
              <a:buChar char="•"/>
            </a:pPr>
            <a:r>
              <a:rPr lang="en-US"/>
              <a:t>Do đó, người gửi tin nhắn không cần biết chính xác loại người nhận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9"/>
          <p:cNvSpPr/>
          <p:nvPr/>
        </p:nvSpPr>
        <p:spPr>
          <a:xfrm>
            <a:off x="1114425" y="0"/>
            <a:ext cx="9963150"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 name="Google Shape;279;p9"/>
          <p:cNvSpPr/>
          <p:nvPr/>
        </p:nvSpPr>
        <p:spPr>
          <a:xfrm>
            <a:off x="1121664" y="0"/>
            <a:ext cx="9948672"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 name="Google Shape;280;p9"/>
          <p:cNvSpPr txBox="1"/>
          <p:nvPr>
            <p:ph type="title"/>
          </p:nvPr>
        </p:nvSpPr>
        <p:spPr>
          <a:xfrm>
            <a:off x="1524003" y="1999615"/>
            <a:ext cx="9144000" cy="2764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Calibri"/>
              <a:buNone/>
            </a:pPr>
            <a:r>
              <a:rPr lang="en-US" sz="7200">
                <a:solidFill>
                  <a:schemeClr val="dk1"/>
                </a:solidFill>
                <a:latin typeface="Calibri"/>
                <a:ea typeface="Calibri"/>
                <a:cs typeface="Calibri"/>
                <a:sym typeface="Calibri"/>
              </a:rPr>
              <a:t>Thực thi hàm ảo</a:t>
            </a:r>
            <a:endParaRPr/>
          </a:p>
        </p:txBody>
      </p:sp>
      <p:sp>
        <p:nvSpPr>
          <p:cNvPr id="281" name="Google Shape;281;p9"/>
          <p:cNvSpPr txBox="1"/>
          <p:nvPr>
            <p:ph idx="1" type="body"/>
          </p:nvPr>
        </p:nvSpPr>
        <p:spPr>
          <a:xfrm>
            <a:off x="1966912" y="5645150"/>
            <a:ext cx="8258176" cy="6318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88888"/>
              </a:buClr>
              <a:buSzPts val="2800"/>
              <a:buNone/>
            </a:pPr>
            <a:r>
              <a:t/>
            </a:r>
            <a:endParaRPr sz="2800">
              <a:solidFill>
                <a:schemeClr val="dk1"/>
              </a:solidFill>
              <a:latin typeface="Calibri"/>
              <a:ea typeface="Calibri"/>
              <a:cs typeface="Calibri"/>
              <a:sym typeface="Calibri"/>
            </a:endParaRPr>
          </a:p>
        </p:txBody>
      </p:sp>
      <p:sp>
        <p:nvSpPr>
          <p:cNvPr id="282" name="Google Shape;282;p9"/>
          <p:cNvSpPr/>
          <p:nvPr/>
        </p:nvSpPr>
        <p:spPr>
          <a:xfrm>
            <a:off x="3718560" y="5524786"/>
            <a:ext cx="475488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3" name="Google Shape;283;p9"/>
          <p:cNvSpPr txBox="1"/>
          <p:nvPr>
            <p:ph idx="12" type="sldNum"/>
          </p:nvPr>
        </p:nvSpPr>
        <p:spPr>
          <a:xfrm>
            <a:off x="10489019" y="6356350"/>
            <a:ext cx="126881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Hàm ảo</a:t>
            </a:r>
            <a:endParaRPr/>
          </a:p>
        </p:txBody>
      </p:sp>
      <p:sp>
        <p:nvSpPr>
          <p:cNvPr id="289" name="Google Shape;28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Mục tiêu của 1 lệnh gọi hàm ảo được xác định tại thời điểm chạy</a:t>
            </a:r>
            <a:endParaRPr/>
          </a:p>
          <a:p>
            <a:pPr indent="-228600" lvl="0" marL="228600" rtl="0" algn="l">
              <a:lnSpc>
                <a:spcPct val="90000"/>
              </a:lnSpc>
              <a:spcBef>
                <a:spcPts val="1000"/>
              </a:spcBef>
              <a:spcAft>
                <a:spcPts val="0"/>
              </a:spcAft>
              <a:buClr>
                <a:schemeClr val="dk1"/>
              </a:buClr>
              <a:buSzPts val="2800"/>
              <a:buChar char="•"/>
            </a:pPr>
            <a:r>
              <a:rPr lang="en-US"/>
              <a:t>Trong C++, khai báo một hàm ảo bằng cách đặt trước tiêu đề hàm với từ khóa “virtual”</a:t>
            </a:r>
            <a:endParaRPr/>
          </a:p>
          <a:p>
            <a:pPr indent="-228600" lvl="0" marL="228600" rtl="0" algn="l">
              <a:lnSpc>
                <a:spcPct val="80000"/>
              </a:lnSpc>
              <a:spcBef>
                <a:spcPts val="1000"/>
              </a:spcBef>
              <a:spcAft>
                <a:spcPts val="0"/>
              </a:spcAft>
              <a:buClr>
                <a:schemeClr val="dk1"/>
              </a:buClr>
              <a:buSzPts val="2800"/>
              <a:buFont typeface="Courier New"/>
              <a:buNone/>
            </a:pPr>
            <a:r>
              <a:rPr b="1" lang="en-US" sz="2800">
                <a:latin typeface="Courier New"/>
                <a:ea typeface="Courier New"/>
                <a:cs typeface="Courier New"/>
                <a:sym typeface="Courier New"/>
              </a:rPr>
              <a:t>	class Shape {</a:t>
            </a:r>
            <a:endParaRPr/>
          </a:p>
          <a:p>
            <a:pPr indent="-228600" lvl="0" marL="228600" rtl="0" algn="l">
              <a:lnSpc>
                <a:spcPct val="80000"/>
              </a:lnSpc>
              <a:spcBef>
                <a:spcPts val="1000"/>
              </a:spcBef>
              <a:spcAft>
                <a:spcPts val="0"/>
              </a:spcAft>
              <a:buClr>
                <a:schemeClr val="dk1"/>
              </a:buClr>
              <a:buSzPts val="2800"/>
              <a:buFont typeface="Courier New"/>
              <a:buNone/>
            </a:pPr>
            <a:r>
              <a:rPr b="1" lang="en-US" sz="2800">
                <a:latin typeface="Courier New"/>
                <a:ea typeface="Courier New"/>
                <a:cs typeface="Courier New"/>
                <a:sym typeface="Courier New"/>
              </a:rPr>
              <a:t>		…</a:t>
            </a:r>
            <a:endParaRPr/>
          </a:p>
          <a:p>
            <a:pPr indent="-228600" lvl="0" marL="228600" rtl="0" algn="l">
              <a:lnSpc>
                <a:spcPct val="80000"/>
              </a:lnSpc>
              <a:spcBef>
                <a:spcPts val="1000"/>
              </a:spcBef>
              <a:spcAft>
                <a:spcPts val="0"/>
              </a:spcAft>
              <a:buClr>
                <a:schemeClr val="dk1"/>
              </a:buClr>
              <a:buSzPts val="2800"/>
              <a:buFont typeface="Courier New"/>
              <a:buNone/>
            </a:pPr>
            <a:r>
              <a:rPr b="1" lang="en-US" sz="2800">
                <a:latin typeface="Courier New"/>
                <a:ea typeface="Courier New"/>
                <a:cs typeface="Courier New"/>
                <a:sym typeface="Courier New"/>
              </a:rPr>
              <a:t>		virtual void draw();</a:t>
            </a:r>
            <a:endParaRPr/>
          </a:p>
          <a:p>
            <a:pPr indent="-228600" lvl="0" marL="228600" rtl="0" algn="l">
              <a:lnSpc>
                <a:spcPct val="80000"/>
              </a:lnSpc>
              <a:spcBef>
                <a:spcPts val="1000"/>
              </a:spcBef>
              <a:spcAft>
                <a:spcPts val="0"/>
              </a:spcAft>
              <a:buClr>
                <a:schemeClr val="dk1"/>
              </a:buClr>
              <a:buSzPts val="2800"/>
              <a:buFont typeface="Courier New"/>
              <a:buNone/>
            </a:pPr>
            <a:r>
              <a:rPr b="1" lang="en-US" sz="2800">
                <a:latin typeface="Courier New"/>
                <a:ea typeface="Courier New"/>
                <a:cs typeface="Courier New"/>
                <a:sym typeface="Courier New"/>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Liên kết tĩnh và Liên kết động</a:t>
            </a:r>
            <a:br>
              <a:rPr lang="en-US"/>
            </a:br>
            <a:r>
              <a:rPr lang="en-US" sz="2800"/>
              <a:t>(Static vs Dynamic Binding)</a:t>
            </a:r>
            <a:endParaRPr/>
          </a:p>
        </p:txBody>
      </p:sp>
      <p:sp>
        <p:nvSpPr>
          <p:cNvPr id="295" name="Google Shape;29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just">
              <a:lnSpc>
                <a:spcPct val="90000"/>
              </a:lnSpc>
              <a:spcBef>
                <a:spcPts val="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n-US"/>
              <a:t>Liên kết tĩnh có nghĩa là hàm đích cho một lời gọi được chọn tại thời điểm biên dịch</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n-US"/>
              <a:t>Liên kết động có nghĩa là hàm đích cho một lời gọi được chọn vào thời gian chạy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Liên kết tĩnh</a:t>
            </a:r>
            <a:endParaRPr/>
          </a:p>
        </p:txBody>
      </p:sp>
      <p:sp>
        <p:nvSpPr>
          <p:cNvPr id="301" name="Google Shape;30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Liên kết tĩnh (</a:t>
            </a:r>
            <a:r>
              <a:rPr i="1" lang="en-US">
                <a:solidFill>
                  <a:srgbClr val="CC3300"/>
                </a:solidFill>
              </a:rPr>
              <a:t>static binding</a:t>
            </a:r>
            <a:r>
              <a:rPr lang="en-US"/>
              <a:t>):</a:t>
            </a:r>
            <a:endParaRPr/>
          </a:p>
          <a:p>
            <a:pPr indent="-228600" lvl="1" marL="685800" rtl="0" algn="l">
              <a:lnSpc>
                <a:spcPct val="90000"/>
              </a:lnSpc>
              <a:spcBef>
                <a:spcPts val="500"/>
              </a:spcBef>
              <a:spcAft>
                <a:spcPts val="0"/>
              </a:spcAft>
              <a:buClr>
                <a:schemeClr val="dk1"/>
              </a:buClr>
              <a:buSzPts val="2400"/>
              <a:buChar char="•"/>
            </a:pPr>
            <a:r>
              <a:rPr lang="en-US"/>
              <a:t> Xác định khi biên dịch chương trình.</a:t>
            </a:r>
            <a:endParaRPr/>
          </a:p>
          <a:p>
            <a:pPr indent="-228600" lvl="1" marL="685800" rtl="0" algn="l">
              <a:lnSpc>
                <a:spcPct val="90000"/>
              </a:lnSpc>
              <a:spcBef>
                <a:spcPts val="500"/>
              </a:spcBef>
              <a:spcAft>
                <a:spcPts val="0"/>
              </a:spcAft>
              <a:buClr>
                <a:schemeClr val="dk1"/>
              </a:buClr>
              <a:buSzPts val="2400"/>
              <a:buChar char="•"/>
            </a:pPr>
            <a:r>
              <a:rPr lang="en-US"/>
              <a:t> Dùng </a:t>
            </a:r>
            <a:r>
              <a:rPr b="1" lang="en-US"/>
              <a:t>hàm thành viên</a:t>
            </a:r>
            <a:r>
              <a:rPr lang="en-US"/>
              <a:t>.</a:t>
            </a:r>
            <a:endParaRPr/>
          </a:p>
          <a:p>
            <a:pPr indent="-228600" lvl="1" marL="685800" rtl="0" algn="l">
              <a:lnSpc>
                <a:spcPct val="90000"/>
              </a:lnSpc>
              <a:spcBef>
                <a:spcPts val="500"/>
              </a:spcBef>
              <a:spcAft>
                <a:spcPts val="0"/>
              </a:spcAft>
              <a:buClr>
                <a:schemeClr val="dk1"/>
              </a:buClr>
              <a:buSzPts val="2400"/>
              <a:buChar char="•"/>
            </a:pPr>
            <a:r>
              <a:rPr lang="en-US"/>
              <a:t> Gọi hàm của </a:t>
            </a:r>
            <a:r>
              <a:rPr b="1" lang="en-US"/>
              <a:t>lớp cơ sở</a:t>
            </a:r>
            <a:endParaRPr/>
          </a:p>
        </p:txBody>
      </p:sp>
      <p:sp>
        <p:nvSpPr>
          <p:cNvPr id="302" name="Google Shape;30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
        <p:nvSpPr>
          <p:cNvPr id="303" name="Google Shape;303;p12"/>
          <p:cNvSpPr/>
          <p:nvPr/>
        </p:nvSpPr>
        <p:spPr>
          <a:xfrm>
            <a:off x="2017986" y="3607791"/>
            <a:ext cx="3062057" cy="1815882"/>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class </a:t>
            </a:r>
            <a:r>
              <a:rPr b="0" i="0" lang="en-US" sz="1600" u="none" cap="none" strike="noStrike">
                <a:solidFill>
                  <a:srgbClr val="CC3300"/>
                </a:solidFill>
                <a:latin typeface="Arial"/>
                <a:ea typeface="Arial"/>
                <a:cs typeface="Arial"/>
                <a:sym typeface="Arial"/>
              </a:rPr>
              <a:t>Pet</a:t>
            </a: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Pet(string n) { Name = n;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public:</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string getSound(){</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return ”Say it";</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a:t>
            </a:r>
            <a:endParaRPr/>
          </a:p>
        </p:txBody>
      </p:sp>
      <p:sp>
        <p:nvSpPr>
          <p:cNvPr id="304" name="Google Shape;304;p12"/>
          <p:cNvSpPr/>
          <p:nvPr/>
        </p:nvSpPr>
        <p:spPr>
          <a:xfrm>
            <a:off x="5205251" y="3290268"/>
            <a:ext cx="3380683" cy="2133405"/>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class </a:t>
            </a:r>
            <a:r>
              <a:rPr b="0" i="0" lang="en-US" sz="1600" u="none" cap="none" strike="noStrike">
                <a:solidFill>
                  <a:srgbClr val="CC3300"/>
                </a:solidFill>
                <a:latin typeface="Arial"/>
                <a:ea typeface="Arial"/>
                <a:cs typeface="Arial"/>
                <a:sym typeface="Arial"/>
              </a:rPr>
              <a:t>Cat</a:t>
            </a:r>
            <a:r>
              <a:rPr b="0" i="0" lang="en-US" sz="1600" u="none" cap="none" strike="noStrike">
                <a:solidFill>
                  <a:schemeClr val="dk1"/>
                </a:solidFill>
                <a:latin typeface="Arial"/>
                <a:ea typeface="Arial"/>
                <a:cs typeface="Arial"/>
                <a:sym typeface="Arial"/>
              </a:rPr>
              <a:t> : public Pet {</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public:</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Cat(string n) : Pet(n) {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string getSound() {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return "Meow! Meow!";</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p:txBody>
      </p:sp>
      <p:sp>
        <p:nvSpPr>
          <p:cNvPr id="305" name="Google Shape;305;p12"/>
          <p:cNvSpPr/>
          <p:nvPr/>
        </p:nvSpPr>
        <p:spPr>
          <a:xfrm>
            <a:off x="2004850" y="5512550"/>
            <a:ext cx="3138943" cy="830997"/>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main() {</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Pet *a_pet = new Cat("Kitty");</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a:t>
            </a:r>
            <a:endParaRPr/>
          </a:p>
        </p:txBody>
      </p:sp>
      <p:sp>
        <p:nvSpPr>
          <p:cNvPr id="306" name="Google Shape;306;p12"/>
          <p:cNvSpPr/>
          <p:nvPr/>
        </p:nvSpPr>
        <p:spPr>
          <a:xfrm>
            <a:off x="5205251" y="5529139"/>
            <a:ext cx="3245069" cy="584775"/>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cout&lt;&lt; a_pet-&gt;</a:t>
            </a:r>
            <a:r>
              <a:rPr b="0" i="0" lang="en-US" sz="1600" u="none" cap="none" strike="noStrike">
                <a:solidFill>
                  <a:schemeClr val="dk2"/>
                </a:solidFill>
                <a:latin typeface="Arial"/>
                <a:ea typeface="Arial"/>
                <a:cs typeface="Arial"/>
                <a:sym typeface="Arial"/>
              </a:rPr>
              <a:t> getSound</a:t>
            </a:r>
            <a:r>
              <a:rPr b="0" i="0" lang="en-US" sz="16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t>
            </a:r>
            <a:endParaRPr/>
          </a:p>
        </p:txBody>
      </p:sp>
      <p:sp>
        <p:nvSpPr>
          <p:cNvPr id="307" name="Google Shape;307;p12"/>
          <p:cNvSpPr/>
          <p:nvPr/>
        </p:nvSpPr>
        <p:spPr>
          <a:xfrm>
            <a:off x="8610600" y="5529139"/>
            <a:ext cx="1448093" cy="1175198"/>
          </a:xfrm>
          <a:prstGeom prst="cloudCallout">
            <a:avLst>
              <a:gd fmla="val -79065" name="adj1"/>
              <a:gd fmla="val -29329" name="adj2"/>
            </a:avLst>
          </a:prstGeom>
          <a:solidFill>
            <a:srgbClr val="FFFFCC"/>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C3300"/>
                </a:solidFill>
                <a:latin typeface="Arial"/>
                <a:ea typeface="Arial"/>
                <a:cs typeface="Arial"/>
                <a:sym typeface="Arial"/>
              </a:rPr>
              <a:t>Gọi hàm nào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Liên kết động</a:t>
            </a:r>
            <a:endParaRPr/>
          </a:p>
        </p:txBody>
      </p:sp>
      <p:sp>
        <p:nvSpPr>
          <p:cNvPr id="313" name="Google Shape;31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Liên kết động (</a:t>
            </a:r>
            <a:r>
              <a:rPr i="1" lang="en-US">
                <a:solidFill>
                  <a:srgbClr val="CC3300"/>
                </a:solidFill>
              </a:rPr>
              <a:t>dynamic binding</a:t>
            </a:r>
            <a:r>
              <a:rPr lang="en-US"/>
              <a:t>)</a:t>
            </a:r>
            <a:endParaRPr/>
          </a:p>
          <a:p>
            <a:pPr indent="-228600" lvl="1" marL="685800" rtl="0" algn="l">
              <a:lnSpc>
                <a:spcPct val="90000"/>
              </a:lnSpc>
              <a:spcBef>
                <a:spcPts val="500"/>
              </a:spcBef>
              <a:spcAft>
                <a:spcPts val="0"/>
              </a:spcAft>
              <a:buClr>
                <a:schemeClr val="dk1"/>
              </a:buClr>
              <a:buSzPts val="2400"/>
              <a:buChar char="•"/>
            </a:pPr>
            <a:r>
              <a:rPr lang="en-US"/>
              <a:t> Xác định khi thực thi chương trình</a:t>
            </a:r>
            <a:endParaRPr/>
          </a:p>
          <a:p>
            <a:pPr indent="-228600" lvl="1" marL="685800" rtl="0" algn="l">
              <a:lnSpc>
                <a:spcPct val="90000"/>
              </a:lnSpc>
              <a:spcBef>
                <a:spcPts val="500"/>
              </a:spcBef>
              <a:spcAft>
                <a:spcPts val="0"/>
              </a:spcAft>
              <a:buClr>
                <a:schemeClr val="dk1"/>
              </a:buClr>
              <a:buSzPts val="2400"/>
              <a:buChar char="•"/>
            </a:pPr>
            <a:r>
              <a:rPr lang="en-US"/>
              <a:t> Dùng </a:t>
            </a:r>
            <a:r>
              <a:rPr b="1" lang="en-US"/>
              <a:t>hàm ảo</a:t>
            </a:r>
            <a:r>
              <a:rPr lang="en-US"/>
              <a:t> (virtual function)</a:t>
            </a:r>
            <a:endParaRPr/>
          </a:p>
          <a:p>
            <a:pPr indent="-228600" lvl="1" marL="685800" rtl="0" algn="l">
              <a:lnSpc>
                <a:spcPct val="90000"/>
              </a:lnSpc>
              <a:spcBef>
                <a:spcPts val="500"/>
              </a:spcBef>
              <a:spcAft>
                <a:spcPts val="0"/>
              </a:spcAft>
              <a:buClr>
                <a:schemeClr val="dk1"/>
              </a:buClr>
              <a:buSzPts val="2400"/>
              <a:buChar char="•"/>
            </a:pPr>
            <a:r>
              <a:rPr lang="en-US"/>
              <a:t> Gọi hàm của </a:t>
            </a:r>
            <a:r>
              <a:rPr b="1" lang="en-US"/>
              <a:t>lớp dẫn xuất</a:t>
            </a:r>
            <a:endParaRPr/>
          </a:p>
          <a:p>
            <a:pPr indent="-228600" lvl="1" marL="685800" rtl="0" algn="l">
              <a:lnSpc>
                <a:spcPct val="90000"/>
              </a:lnSpc>
              <a:spcBef>
                <a:spcPts val="500"/>
              </a:spcBef>
              <a:spcAft>
                <a:spcPts val="0"/>
              </a:spcAft>
              <a:buClr>
                <a:schemeClr val="dk1"/>
              </a:buClr>
              <a:buSzPts val="2400"/>
              <a:buChar char="•"/>
            </a:pPr>
            <a:r>
              <a:rPr lang="en-US"/>
              <a:t> Thể hiện tính </a:t>
            </a:r>
            <a:r>
              <a:rPr b="1" lang="en-US">
                <a:solidFill>
                  <a:srgbClr val="CC3300"/>
                </a:solidFill>
              </a:rPr>
              <a:t>đa hình</a:t>
            </a:r>
            <a:r>
              <a:rPr lang="en-US"/>
              <a:t> của OOP</a:t>
            </a:r>
            <a:endParaRPr/>
          </a:p>
        </p:txBody>
      </p:sp>
      <p:sp>
        <p:nvSpPr>
          <p:cNvPr id="314" name="Google Shape;3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00030"/>
              </a:buClr>
              <a:buSzPts val="1200"/>
              <a:buFont typeface="Arial"/>
              <a:buNone/>
            </a:pPr>
            <a:fld id="{00000000-1234-1234-1234-123412341234}" type="slidenum">
              <a:rPr b="0" i="0" lang="en-US" sz="1200" u="none" cap="none" strike="noStrike">
                <a:solidFill>
                  <a:srgbClr val="300030"/>
                </a:solidFill>
                <a:latin typeface="Arial"/>
                <a:ea typeface="Arial"/>
                <a:cs typeface="Arial"/>
                <a:sym typeface="Arial"/>
              </a:rPr>
              <a:t>‹#›</a:t>
            </a:fld>
            <a:endParaRPr b="0" i="0" sz="1400" u="none" cap="none" strike="noStrike">
              <a:solidFill>
                <a:srgbClr val="300030"/>
              </a:solidFill>
              <a:latin typeface="Arial"/>
              <a:ea typeface="Arial"/>
              <a:cs typeface="Arial"/>
              <a:sym typeface="Arial"/>
            </a:endParaRPr>
          </a:p>
        </p:txBody>
      </p:sp>
      <p:sp>
        <p:nvSpPr>
          <p:cNvPr id="315" name="Google Shape;315;p13"/>
          <p:cNvSpPr/>
          <p:nvPr/>
        </p:nvSpPr>
        <p:spPr>
          <a:xfrm>
            <a:off x="316675" y="4005626"/>
            <a:ext cx="3474051" cy="2800767"/>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class </a:t>
            </a:r>
            <a:r>
              <a:rPr b="0" i="0" lang="en-US" sz="1600" u="none" cap="none" strike="noStrike">
                <a:solidFill>
                  <a:srgbClr val="CC3300"/>
                </a:solidFill>
                <a:latin typeface="Arial"/>
                <a:ea typeface="Arial"/>
                <a:cs typeface="Arial"/>
                <a:sym typeface="Arial"/>
              </a:rPr>
              <a:t>Pet</a:t>
            </a: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Pet(string n) { Name = n;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public:</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string getSound(){</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return ”Say it";</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void makeSound() {</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cout &lt;&lt; Name &lt;&lt; " says: ”;</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cout&lt;&lt; getSound() &lt;&lt; endl; </a:t>
            </a:r>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chemeClr val="dk1"/>
                </a:solidFill>
                <a:latin typeface="Arial"/>
                <a:ea typeface="Arial"/>
                <a:cs typeface="Arial"/>
                <a:sym typeface="Arial"/>
              </a:rPr>
              <a:t>};</a:t>
            </a:r>
            <a:endParaRPr/>
          </a:p>
        </p:txBody>
      </p:sp>
      <p:sp>
        <p:nvSpPr>
          <p:cNvPr id="316" name="Google Shape;316;p13"/>
          <p:cNvSpPr/>
          <p:nvPr/>
        </p:nvSpPr>
        <p:spPr>
          <a:xfrm>
            <a:off x="3834123" y="4013647"/>
            <a:ext cx="3344443" cy="2133405"/>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class </a:t>
            </a:r>
            <a:r>
              <a:rPr b="0" i="0" lang="en-US" sz="1600" u="none" cap="none" strike="noStrike">
                <a:solidFill>
                  <a:srgbClr val="CC3300"/>
                </a:solidFill>
                <a:latin typeface="Arial"/>
                <a:ea typeface="Arial"/>
                <a:cs typeface="Arial"/>
                <a:sym typeface="Arial"/>
              </a:rPr>
              <a:t>Cat</a:t>
            </a:r>
            <a:r>
              <a:rPr b="0" i="0" lang="en-US" sz="1600" u="none" cap="none" strike="noStrike">
                <a:solidFill>
                  <a:schemeClr val="dk1"/>
                </a:solidFill>
                <a:latin typeface="Arial"/>
                <a:ea typeface="Arial"/>
                <a:cs typeface="Arial"/>
                <a:sym typeface="Arial"/>
              </a:rPr>
              <a:t> : public Pet {</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public:</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Cat(string n) : Pet(n) {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string getSound() {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return "Meow! Meow!";</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lnSpc>
                <a:spcPct val="12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p:txBody>
      </p:sp>
      <p:sp>
        <p:nvSpPr>
          <p:cNvPr id="317" name="Google Shape;317;p13"/>
          <p:cNvSpPr/>
          <p:nvPr/>
        </p:nvSpPr>
        <p:spPr>
          <a:xfrm>
            <a:off x="7221963" y="4013647"/>
            <a:ext cx="3505200" cy="1569660"/>
          </a:xfrm>
          <a:prstGeom prst="rect">
            <a:avLst/>
          </a:prstGeom>
          <a:solidFill>
            <a:srgbClr val="6666FF"/>
          </a:solidFill>
          <a:ln cap="flat" cmpd="dbl" w="254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void main() {</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Pet *a_pet = new Cat("Kitty");</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cout&lt;&lt; a_pet-&gt;</a:t>
            </a:r>
            <a:r>
              <a:rPr b="0" i="0" lang="en-US" sz="1600" u="none" cap="none" strike="noStrike">
                <a:solidFill>
                  <a:schemeClr val="dk2"/>
                </a:solidFill>
                <a:latin typeface="Arial"/>
                <a:ea typeface="Arial"/>
                <a:cs typeface="Arial"/>
                <a:sym typeface="Arial"/>
              </a:rPr>
              <a:t> getSound</a:t>
            </a:r>
            <a:r>
              <a:rPr b="0" i="0" lang="en-US" sz="16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a_pet-&gt;makeSound();</a:t>
            </a:r>
            <a:endParaRPr/>
          </a:p>
          <a:p>
            <a:pPr indent="0" lvl="0" marL="0" marR="0" rtl="0" algn="l">
              <a:spcBef>
                <a:spcPts val="0"/>
              </a:spcBef>
              <a:spcAft>
                <a:spcPts val="0"/>
              </a:spcAft>
              <a:buClr>
                <a:schemeClr val="dk2"/>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t>
            </a:r>
            <a:endParaRPr/>
          </a:p>
        </p:txBody>
      </p:sp>
      <p:grpSp>
        <p:nvGrpSpPr>
          <p:cNvPr id="318" name="Google Shape;318;p13"/>
          <p:cNvGrpSpPr/>
          <p:nvPr/>
        </p:nvGrpSpPr>
        <p:grpSpPr>
          <a:xfrm>
            <a:off x="10372345" y="3440306"/>
            <a:ext cx="1555530" cy="2855610"/>
            <a:chOff x="10346159" y="2242832"/>
            <a:chExt cx="1555530" cy="2855610"/>
          </a:xfrm>
        </p:grpSpPr>
        <p:sp>
          <p:nvSpPr>
            <p:cNvPr id="319" name="Google Shape;319;p13"/>
            <p:cNvSpPr/>
            <p:nvPr/>
          </p:nvSpPr>
          <p:spPr>
            <a:xfrm>
              <a:off x="10377690" y="2242832"/>
              <a:ext cx="1523999" cy="1325564"/>
            </a:xfrm>
            <a:prstGeom prst="cloudCallout">
              <a:avLst>
                <a:gd fmla="val -69639" name="adj1"/>
                <a:gd fmla="val 52167" name="adj2"/>
              </a:avLst>
            </a:prstGeom>
            <a:solidFill>
              <a:srgbClr val="FFFFCC"/>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rgbClr val="CC3300"/>
                  </a:solidFill>
                  <a:latin typeface="Arial"/>
                  <a:ea typeface="Arial"/>
                  <a:cs typeface="Arial"/>
                  <a:sym typeface="Arial"/>
                </a:rPr>
                <a:t>Gọi hàm của lớp nào ?</a:t>
              </a:r>
              <a:endParaRPr/>
            </a:p>
          </p:txBody>
        </p:sp>
        <p:sp>
          <p:nvSpPr>
            <p:cNvPr id="320" name="Google Shape;320;p13"/>
            <p:cNvSpPr/>
            <p:nvPr/>
          </p:nvSpPr>
          <p:spPr>
            <a:xfrm>
              <a:off x="10346159" y="3912612"/>
              <a:ext cx="1219200" cy="1185830"/>
            </a:xfrm>
            <a:prstGeom prst="wedgeRoundRectCallout">
              <a:avLst>
                <a:gd fmla="val -78282" name="adj1"/>
                <a:gd fmla="val -61840" name="adj2"/>
                <a:gd fmla="val 16667" name="adj3"/>
              </a:avLst>
            </a:prstGeom>
            <a:solidFill>
              <a:srgbClr val="FF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lt2"/>
                  </a:solidFill>
                  <a:latin typeface="Arial"/>
                  <a:ea typeface="Arial"/>
                  <a:cs typeface="Arial"/>
                  <a:sym typeface="Arial"/>
                </a:rPr>
                <a:t>Kết quả trên </a:t>
              </a:r>
              <a:endParaRPr/>
            </a:p>
            <a:p>
              <a:pPr indent="0" lvl="0" marL="0" marR="0" rtl="0" algn="ctr">
                <a:spcBef>
                  <a:spcPts val="0"/>
                </a:spcBef>
                <a:spcAft>
                  <a:spcPts val="0"/>
                </a:spcAft>
                <a:buNone/>
              </a:pPr>
              <a:r>
                <a:rPr b="0" i="0" lang="en-US" sz="1600" u="none" cap="none" strike="noStrike">
                  <a:solidFill>
                    <a:schemeClr val="lt2"/>
                  </a:solidFill>
                  <a:latin typeface="Arial"/>
                  <a:ea typeface="Arial"/>
                  <a:cs typeface="Arial"/>
                  <a:sym typeface="Arial"/>
                </a:rPr>
                <a:t>màn hình </a:t>
              </a:r>
              <a:endParaRPr/>
            </a:p>
            <a:p>
              <a:pPr indent="0" lvl="0" marL="0" marR="0" rtl="0" algn="ctr">
                <a:spcBef>
                  <a:spcPts val="0"/>
                </a:spcBef>
                <a:spcAft>
                  <a:spcPts val="0"/>
                </a:spcAft>
                <a:buNone/>
              </a:pPr>
              <a:r>
                <a:rPr b="0" i="0" lang="en-US" sz="1600" u="none" cap="none" strike="noStrike">
                  <a:solidFill>
                    <a:schemeClr val="lt2"/>
                  </a:solidFill>
                  <a:latin typeface="Arial"/>
                  <a:ea typeface="Arial"/>
                  <a:cs typeface="Arial"/>
                  <a:sym typeface="Arial"/>
                </a:rPr>
                <a:t>là gì?</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Ghi đè</a:t>
            </a:r>
            <a:endParaRPr/>
          </a:p>
        </p:txBody>
      </p:sp>
      <p:sp>
        <p:nvSpPr>
          <p:cNvPr id="326" name="Google Shape;3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7" name="Google Shape;32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lang="en-US" sz="3200"/>
              <a:t>Định nghĩa của hàm ảo thay đổi trong một lớp kế thừa</a:t>
            </a:r>
            <a:endParaRPr/>
          </a:p>
          <a:p>
            <a:pPr indent="-228600" lvl="1" marL="685800" rtl="0" algn="just">
              <a:lnSpc>
                <a:spcPct val="90000"/>
              </a:lnSpc>
              <a:spcBef>
                <a:spcPts val="500"/>
              </a:spcBef>
              <a:spcAft>
                <a:spcPts val="0"/>
              </a:spcAft>
              <a:buClr>
                <a:schemeClr val="dk1"/>
              </a:buClr>
              <a:buSzPts val="2800"/>
              <a:buChar char="•"/>
            </a:pPr>
            <a:r>
              <a:rPr lang="en-US" sz="2800"/>
              <a:t>Chúng ta gọi đó là “ghi đè” (overidden)</a:t>
            </a:r>
            <a:endParaRPr/>
          </a:p>
          <a:p>
            <a:pPr indent="-228600" lvl="2" marL="1143000" rtl="0" algn="just">
              <a:lnSpc>
                <a:spcPct val="90000"/>
              </a:lnSpc>
              <a:spcBef>
                <a:spcPts val="500"/>
              </a:spcBef>
              <a:spcAft>
                <a:spcPts val="0"/>
              </a:spcAft>
              <a:buClr>
                <a:schemeClr val="dk1"/>
              </a:buClr>
              <a:buSzPts val="2800"/>
              <a:buChar char="•"/>
            </a:pPr>
            <a:r>
              <a:rPr lang="en-US" sz="2800"/>
              <a:t>Khác với nạp chồng (overloading) như thế nào ?</a:t>
            </a:r>
            <a:endParaRPr/>
          </a:p>
          <a:p>
            <a:pPr indent="-228600" lvl="0" marL="228600" rtl="0" algn="just">
              <a:lnSpc>
                <a:spcPct val="90000"/>
              </a:lnSpc>
              <a:spcBef>
                <a:spcPts val="1000"/>
              </a:spcBef>
              <a:spcAft>
                <a:spcPts val="0"/>
              </a:spcAft>
              <a:buClr>
                <a:schemeClr val="dk1"/>
              </a:buClr>
              <a:buSzPts val="3200"/>
              <a:buChar char="•"/>
            </a:pPr>
            <a:r>
              <a:rPr lang="en-US" sz="3200"/>
              <a:t>Phân biệt:</a:t>
            </a:r>
            <a:endParaRPr/>
          </a:p>
          <a:p>
            <a:pPr indent="-228600" lvl="1" marL="685800" rtl="0" algn="just">
              <a:lnSpc>
                <a:spcPct val="90000"/>
              </a:lnSpc>
              <a:spcBef>
                <a:spcPts val="500"/>
              </a:spcBef>
              <a:spcAft>
                <a:spcPts val="0"/>
              </a:spcAft>
              <a:buClr>
                <a:schemeClr val="dk1"/>
              </a:buClr>
              <a:buSzPts val="2800"/>
              <a:buChar char="•"/>
            </a:pPr>
            <a:r>
              <a:rPr lang="en-US" sz="2800"/>
              <a:t>Hàm ảo thay đổi: ghi đè (overidden)</a:t>
            </a:r>
            <a:endParaRPr/>
          </a:p>
          <a:p>
            <a:pPr indent="-228600" lvl="1" marL="685800" rtl="0" algn="just">
              <a:lnSpc>
                <a:spcPct val="90000"/>
              </a:lnSpc>
              <a:spcBef>
                <a:spcPts val="500"/>
              </a:spcBef>
              <a:spcAft>
                <a:spcPts val="0"/>
              </a:spcAft>
              <a:buClr>
                <a:schemeClr val="dk1"/>
              </a:buClr>
              <a:buSzPts val="2800"/>
              <a:buChar char="•"/>
            </a:pPr>
            <a:r>
              <a:rPr lang="en-US" sz="2800"/>
              <a:t>Hàm bình thường thay đổi: định nghĩa lại (redefined)</a:t>
            </a:r>
            <a:endParaRPr/>
          </a:p>
          <a:p>
            <a:pPr indent="-50800" lvl="1" marL="685800" rtl="0" algn="just">
              <a:lnSpc>
                <a:spcPct val="90000"/>
              </a:lnSpc>
              <a:spcBef>
                <a:spcPts val="500"/>
              </a:spcBef>
              <a:spcAft>
                <a:spcPts val="0"/>
              </a:spcAft>
              <a:buClr>
                <a:schemeClr val="dk1"/>
              </a:buClr>
              <a:buSzPts val="28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Hàm ảo thuần</a:t>
            </a:r>
            <a:endParaRPr/>
          </a:p>
        </p:txBody>
      </p:sp>
      <p:sp>
        <p:nvSpPr>
          <p:cNvPr id="333" name="Google Shape;33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Lớp cơ sở có thể không định nghĩa một vài thành viên của nó!</a:t>
            </a:r>
            <a:endParaRPr/>
          </a:p>
          <a:p>
            <a:pPr indent="-228600" lvl="1" marL="685800" rtl="0" algn="just">
              <a:lnSpc>
                <a:spcPct val="90000"/>
              </a:lnSpc>
              <a:spcBef>
                <a:spcPts val="500"/>
              </a:spcBef>
              <a:spcAft>
                <a:spcPts val="0"/>
              </a:spcAft>
              <a:buClr>
                <a:schemeClr val="dk1"/>
              </a:buClr>
              <a:buSzPts val="2400"/>
              <a:buChar char="•"/>
            </a:pPr>
            <a:r>
              <a:rPr lang="en-US"/>
              <a:t>Mục đích của nó đơn giản là để cho những lớp khác kế thừa</a:t>
            </a:r>
            <a:endParaRPr/>
          </a:p>
          <a:p>
            <a:pPr indent="-228600" lvl="0" marL="228600" rtl="0" algn="just">
              <a:lnSpc>
                <a:spcPct val="90000"/>
              </a:lnSpc>
              <a:spcBef>
                <a:spcPts val="1000"/>
              </a:spcBef>
              <a:spcAft>
                <a:spcPts val="0"/>
              </a:spcAft>
              <a:buClr>
                <a:schemeClr val="dk1"/>
              </a:buClr>
              <a:buSzPts val="2800"/>
              <a:buChar char="•"/>
            </a:pPr>
            <a:r>
              <a:rPr lang="en-US"/>
              <a:t>Tạo một hàm ảo thuần: </a:t>
            </a:r>
            <a:r>
              <a:rPr i="1" lang="en-US">
                <a:solidFill>
                  <a:srgbClr val="FF0000"/>
                </a:solidFill>
              </a:rPr>
              <a:t>virtual void draw() = 0;</a:t>
            </a:r>
            <a:endParaRPr/>
          </a:p>
          <a:p>
            <a:pPr indent="-228600" lvl="0" marL="228600" rtl="0" algn="just">
              <a:lnSpc>
                <a:spcPct val="90000"/>
              </a:lnSpc>
              <a:spcBef>
                <a:spcPts val="1000"/>
              </a:spcBef>
              <a:spcAft>
                <a:spcPts val="0"/>
              </a:spcAft>
              <a:buClr>
                <a:schemeClr val="dk1"/>
              </a:buClr>
              <a:buSzPts val="2800"/>
              <a:buChar char="•"/>
            </a:pPr>
            <a:r>
              <a:rPr lang="en-US"/>
              <a:t>Các hàm ảo thuần không yêu cầu định nghĩa</a:t>
            </a:r>
            <a:endParaRPr/>
          </a:p>
          <a:p>
            <a:pPr indent="-228600" lvl="1" marL="685800" rtl="0" algn="just">
              <a:lnSpc>
                <a:spcPct val="90000"/>
              </a:lnSpc>
              <a:spcBef>
                <a:spcPts val="500"/>
              </a:spcBef>
              <a:spcAft>
                <a:spcPts val="0"/>
              </a:spcAft>
              <a:buClr>
                <a:schemeClr val="dk1"/>
              </a:buClr>
              <a:buSzPts val="2400"/>
              <a:buChar char="•"/>
            </a:pPr>
            <a:r>
              <a:rPr lang="en-US"/>
              <a:t>Bắt buộc các lớp kế thừa phải định nghĩa phiên bản hàm riêng của nó</a:t>
            </a:r>
            <a:endParaRPr/>
          </a:p>
        </p:txBody>
      </p:sp>
      <p:sp>
        <p:nvSpPr>
          <p:cNvPr id="334" name="Google Shape;33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Lớp cơ sở trừu tượng</a:t>
            </a:r>
            <a:endParaRPr/>
          </a:p>
        </p:txBody>
      </p:sp>
      <p:sp>
        <p:nvSpPr>
          <p:cNvPr id="340" name="Google Shape;34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41" name="Google Shape;34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lang="en-US" sz="3200"/>
              <a:t>Là lớp có một hay nhiều hàm ảo thuần</a:t>
            </a:r>
            <a:endParaRPr i="1" sz="3200"/>
          </a:p>
          <a:p>
            <a:pPr indent="-228600" lvl="1" marL="685800" rtl="0" algn="just">
              <a:lnSpc>
                <a:spcPct val="90000"/>
              </a:lnSpc>
              <a:spcBef>
                <a:spcPts val="500"/>
              </a:spcBef>
              <a:spcAft>
                <a:spcPts val="0"/>
              </a:spcAft>
              <a:buClr>
                <a:schemeClr val="dk1"/>
              </a:buClr>
              <a:buSzPts val="2800"/>
              <a:buChar char="•"/>
            </a:pPr>
            <a:r>
              <a:rPr lang="en-US" sz="2800"/>
              <a:t>Chỉ có thể được sử dụng như lớp cơ sở</a:t>
            </a:r>
            <a:endParaRPr/>
          </a:p>
          <a:p>
            <a:pPr indent="-228600" lvl="1" marL="685800" rtl="0" algn="just">
              <a:lnSpc>
                <a:spcPct val="90000"/>
              </a:lnSpc>
              <a:spcBef>
                <a:spcPts val="500"/>
              </a:spcBef>
              <a:spcAft>
                <a:spcPts val="0"/>
              </a:spcAft>
              <a:buClr>
                <a:schemeClr val="dk1"/>
              </a:buClr>
              <a:buSzPts val="2800"/>
              <a:buChar char="•"/>
            </a:pPr>
            <a:r>
              <a:rPr lang="en-US" sz="2800"/>
              <a:t>Không thể tạo đối tượng từ lớp trừu tượng này. Bởi vì nó không có định nghĩa hoàn thiện của tất cả các thành viên!</a:t>
            </a:r>
            <a:endParaRPr/>
          </a:p>
          <a:p>
            <a:pPr indent="-228600" lvl="0" marL="228600" rtl="0" algn="just">
              <a:lnSpc>
                <a:spcPct val="90000"/>
              </a:lnSpc>
              <a:spcBef>
                <a:spcPts val="1000"/>
              </a:spcBef>
              <a:spcAft>
                <a:spcPts val="0"/>
              </a:spcAft>
              <a:buClr>
                <a:schemeClr val="dk1"/>
              </a:buClr>
              <a:buSzPts val="3200"/>
              <a:buChar char="•"/>
            </a:pPr>
            <a:r>
              <a:rPr lang="en-US" sz="3200"/>
              <a:t>Nếu lớp thừa kế không định nghĩa tất cả hàm ảo thuần thì nó cũng sẽ là một lớp cơ sở trừu tượng!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48" name="Google Shape;348;p17"/>
          <p:cNvPicPr preferRelativeResize="0"/>
          <p:nvPr/>
        </p:nvPicPr>
        <p:blipFill rotWithShape="1">
          <a:blip r:embed="rId3">
            <a:alphaModFix/>
          </a:blip>
          <a:srcRect b="0" l="0" r="0" t="0"/>
          <a:stretch/>
        </p:blipFill>
        <p:spPr>
          <a:xfrm>
            <a:off x="838200" y="344741"/>
            <a:ext cx="10588482" cy="61685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a:t>
            </a:r>
            <a:endParaRPr/>
          </a:p>
        </p:txBody>
      </p:sp>
      <p:sp>
        <p:nvSpPr>
          <p:cNvPr id="354" name="Google Shape;354;p18"/>
          <p:cNvSpPr txBox="1"/>
          <p:nvPr>
            <p:ph idx="1" type="body"/>
          </p:nvPr>
        </p:nvSpPr>
        <p:spPr>
          <a:xfrm>
            <a:off x="838201" y="1825625"/>
            <a:ext cx="539115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b="1" lang="en-US" sz="2400"/>
              <a:t>Lớp Person</a:t>
            </a:r>
            <a:endParaRPr sz="2400"/>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Person</a:t>
            </a:r>
            <a:r>
              <a:rPr lang="en-US" sz="2000"/>
              <a:t> là </a:t>
            </a:r>
            <a:r>
              <a:rPr b="1" lang="en-US" sz="2000"/>
              <a:t>lớp trừ tượng</a:t>
            </a:r>
            <a:r>
              <a:rPr lang="en-US" sz="2000"/>
              <a:t> dùng để lưu thông tin chung về đối tượng con người.</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name</a:t>
            </a:r>
            <a:r>
              <a:rPr lang="en-US" sz="2000"/>
              <a:t> và </a:t>
            </a:r>
            <a:r>
              <a:rPr lang="en-US" sz="2000">
                <a:solidFill>
                  <a:srgbClr val="FF0000"/>
                </a:solidFill>
              </a:rPr>
              <a:t>address</a:t>
            </a:r>
            <a:r>
              <a:rPr lang="en-US" sz="2000"/>
              <a:t> là 2 thuộc tính riêng chỉ tên và địa chỉ của một người.</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Person(name: String, address: String)</a:t>
            </a:r>
            <a:r>
              <a:rPr lang="en-US" sz="2000"/>
              <a:t> là hàm khởi tạo có tham số dùng để khởi tạo giá trị cho các thuộc tính.</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display()</a:t>
            </a:r>
            <a:r>
              <a:rPr lang="en-US" sz="2000"/>
              <a:t> là phương thức </a:t>
            </a:r>
            <a:r>
              <a:rPr b="1" lang="en-US" sz="2000"/>
              <a:t>trừu tượng</a:t>
            </a:r>
            <a:r>
              <a:rPr lang="en-US" sz="2000"/>
              <a:t> dùng để hiển thị thông tin của một người.</a:t>
            </a:r>
            <a:endParaRPr/>
          </a:p>
        </p:txBody>
      </p:sp>
      <p:sp>
        <p:nvSpPr>
          <p:cNvPr id="355" name="Google Shape;35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6" name="Google Shape;356;p18"/>
          <p:cNvPicPr preferRelativeResize="0"/>
          <p:nvPr/>
        </p:nvPicPr>
        <p:blipFill rotWithShape="1">
          <a:blip r:embed="rId3">
            <a:alphaModFix/>
          </a:blip>
          <a:srcRect b="0" l="0" r="0" t="0"/>
          <a:stretch/>
        </p:blipFill>
        <p:spPr>
          <a:xfrm>
            <a:off x="6272453" y="2280744"/>
            <a:ext cx="5919547" cy="344854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a:t>
            </a:r>
            <a:endParaRPr/>
          </a:p>
        </p:txBody>
      </p:sp>
      <p:sp>
        <p:nvSpPr>
          <p:cNvPr id="362" name="Google Shape;362;p19"/>
          <p:cNvSpPr txBox="1"/>
          <p:nvPr>
            <p:ph idx="1" type="body"/>
          </p:nvPr>
        </p:nvSpPr>
        <p:spPr>
          <a:xfrm>
            <a:off x="838201" y="1825625"/>
            <a:ext cx="539115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b="1" lang="en-US" sz="2400"/>
              <a:t>Lớp Employee</a:t>
            </a:r>
            <a:endParaRPr sz="2400"/>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Employee</a:t>
            </a:r>
            <a:r>
              <a:rPr lang="en-US" sz="2000"/>
              <a:t> là lớp kế thừa từ lớp trừu tượng Person</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salary</a:t>
            </a:r>
            <a:r>
              <a:rPr lang="en-US" sz="2000"/>
              <a:t> là thuộc tính lưu thông tin về tiền lương của nhân viên.</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Employee(name: String, address: String, salary: int)</a:t>
            </a:r>
            <a:r>
              <a:rPr lang="en-US" sz="2000"/>
              <a:t> là phương thức khởi tạo dùng để khởi tạo giá trị cho các thuộc tính.</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display()</a:t>
            </a:r>
            <a:r>
              <a:rPr lang="en-US" sz="2000"/>
              <a:t> là phương thức ghi đè từ lớp trừu tượng, phương thức này dùng để hiển thị thông tin nhân viên ra màn hình. </a:t>
            </a:r>
            <a:endParaRPr/>
          </a:p>
        </p:txBody>
      </p:sp>
      <p:sp>
        <p:nvSpPr>
          <p:cNvPr id="363" name="Google Shape;36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64" name="Google Shape;364;p19"/>
          <p:cNvPicPr preferRelativeResize="0"/>
          <p:nvPr/>
        </p:nvPicPr>
        <p:blipFill rotWithShape="1">
          <a:blip r:embed="rId3">
            <a:alphaModFix/>
          </a:blip>
          <a:srcRect b="0" l="0" r="0" t="0"/>
          <a:stretch/>
        </p:blipFill>
        <p:spPr>
          <a:xfrm>
            <a:off x="6272453" y="2280744"/>
            <a:ext cx="5919547" cy="34485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a:t>
            </a:r>
            <a:endParaRPr/>
          </a:p>
        </p:txBody>
      </p:sp>
      <p:sp>
        <p:nvSpPr>
          <p:cNvPr id="370" name="Google Shape;370;p20"/>
          <p:cNvSpPr txBox="1"/>
          <p:nvPr>
            <p:ph idx="1" type="body"/>
          </p:nvPr>
        </p:nvSpPr>
        <p:spPr>
          <a:xfrm>
            <a:off x="838201" y="1825625"/>
            <a:ext cx="539115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a:t>Lớp Customer</a:t>
            </a:r>
            <a:endParaRPr sz="2400"/>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Customer</a:t>
            </a:r>
            <a:r>
              <a:rPr lang="en-US" sz="2000"/>
              <a:t> là lớp kế thừa từ lớp trừu tượng Person.</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balance</a:t>
            </a:r>
            <a:r>
              <a:rPr lang="en-US" sz="2000"/>
              <a:t> là thuộc tính lưu thông tin về số dư trong tài khoản của khách hàng.</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Customer(name: String, address: String, balance: int)</a:t>
            </a:r>
            <a:r>
              <a:rPr lang="en-US" sz="2000"/>
              <a:t> là phương thức khởi tạo dùng để khởi tạo giá trị cho các thuộc tính.</a:t>
            </a:r>
            <a:endParaRPr/>
          </a:p>
          <a:p>
            <a:pPr indent="-228600" lvl="1" marL="685800" rtl="0" algn="just">
              <a:lnSpc>
                <a:spcPct val="90000"/>
              </a:lnSpc>
              <a:spcBef>
                <a:spcPts val="500"/>
              </a:spcBef>
              <a:spcAft>
                <a:spcPts val="0"/>
              </a:spcAft>
              <a:buClr>
                <a:srgbClr val="FF0000"/>
              </a:buClr>
              <a:buSzPts val="2000"/>
              <a:buChar char="•"/>
            </a:pPr>
            <a:r>
              <a:rPr lang="en-US" sz="2000">
                <a:solidFill>
                  <a:srgbClr val="FF0000"/>
                </a:solidFill>
              </a:rPr>
              <a:t>display()</a:t>
            </a:r>
            <a:r>
              <a:rPr lang="en-US" sz="2000"/>
              <a:t> là phương thức ghi đè từ lớp trừu tượng, phương thức này dùng để hiển thị thông tin nhân viên ra màn hình. </a:t>
            </a:r>
            <a:endParaRPr/>
          </a:p>
        </p:txBody>
      </p:sp>
      <p:sp>
        <p:nvSpPr>
          <p:cNvPr id="371" name="Google Shape;3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72" name="Google Shape;372;p20"/>
          <p:cNvPicPr preferRelativeResize="0"/>
          <p:nvPr/>
        </p:nvPicPr>
        <p:blipFill rotWithShape="1">
          <a:blip r:embed="rId3">
            <a:alphaModFix/>
          </a:blip>
          <a:srcRect b="0" l="0" r="0" t="0"/>
          <a:stretch/>
        </p:blipFill>
        <p:spPr>
          <a:xfrm>
            <a:off x="6272453" y="2280744"/>
            <a:ext cx="5919547" cy="34485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8" name="Google Shape;378;p21"/>
          <p:cNvSpPr/>
          <p:nvPr/>
        </p:nvSpPr>
        <p:spPr>
          <a:xfrm>
            <a:off x="1114425" y="0"/>
            <a:ext cx="9963150"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9" name="Google Shape;379;p21"/>
          <p:cNvSpPr/>
          <p:nvPr/>
        </p:nvSpPr>
        <p:spPr>
          <a:xfrm>
            <a:off x="1121664" y="0"/>
            <a:ext cx="9948672"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0" name="Google Shape;380;p21"/>
          <p:cNvSpPr txBox="1"/>
          <p:nvPr>
            <p:ph type="title"/>
          </p:nvPr>
        </p:nvSpPr>
        <p:spPr>
          <a:xfrm>
            <a:off x="1524003" y="1999615"/>
            <a:ext cx="9144000" cy="27640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Calibri"/>
              <a:buNone/>
            </a:pPr>
            <a:r>
              <a:rPr lang="en-US" sz="7200">
                <a:solidFill>
                  <a:schemeClr val="dk1"/>
                </a:solidFill>
                <a:latin typeface="Calibri"/>
                <a:ea typeface="Calibri"/>
                <a:cs typeface="Calibri"/>
                <a:sym typeface="Calibri"/>
              </a:rPr>
              <a:t>Con trỏ và Hàm ảo</a:t>
            </a:r>
            <a:endParaRPr/>
          </a:p>
        </p:txBody>
      </p:sp>
      <p:sp>
        <p:nvSpPr>
          <p:cNvPr id="381" name="Google Shape;381;p21"/>
          <p:cNvSpPr txBox="1"/>
          <p:nvPr>
            <p:ph idx="1" type="body"/>
          </p:nvPr>
        </p:nvSpPr>
        <p:spPr>
          <a:xfrm>
            <a:off x="1966912" y="5645150"/>
            <a:ext cx="8258176" cy="6318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88888"/>
              </a:buClr>
              <a:buSzPts val="2800"/>
              <a:buNone/>
            </a:pPr>
            <a:r>
              <a:t/>
            </a:r>
            <a:endParaRPr sz="2800">
              <a:solidFill>
                <a:schemeClr val="dk1"/>
              </a:solidFill>
              <a:latin typeface="Calibri"/>
              <a:ea typeface="Calibri"/>
              <a:cs typeface="Calibri"/>
              <a:sym typeface="Calibri"/>
            </a:endParaRPr>
          </a:p>
        </p:txBody>
      </p:sp>
      <p:sp>
        <p:nvSpPr>
          <p:cNvPr id="382" name="Google Shape;382;p21"/>
          <p:cNvSpPr/>
          <p:nvPr/>
        </p:nvSpPr>
        <p:spPr>
          <a:xfrm>
            <a:off x="3718560" y="5524786"/>
            <a:ext cx="475488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3" name="Google Shape;383;p21"/>
          <p:cNvSpPr txBox="1"/>
          <p:nvPr>
            <p:ph idx="12" type="sldNum"/>
          </p:nvPr>
        </p:nvSpPr>
        <p:spPr>
          <a:xfrm>
            <a:off x="10489019" y="6356350"/>
            <a:ext cx="1268818"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rPr>
              <a:t>‹#›</a:t>
            </a:fld>
            <a:endParaRPr>
              <a:solidFill>
                <a:srgbClr val="7F7F7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Tương thích kiểu</a:t>
            </a:r>
            <a:endParaRPr/>
          </a:p>
        </p:txBody>
      </p:sp>
      <p:sp>
        <p:nvSpPr>
          <p:cNvPr id="389" name="Google Shape;38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90" name="Google Shape;390;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600"/>
              <a:buChar char="•"/>
            </a:pPr>
            <a:r>
              <a:rPr lang="en-US" sz="3600"/>
              <a:t>Giả sử </a:t>
            </a:r>
            <a:r>
              <a:rPr b="1" lang="en-US" sz="3600"/>
              <a:t>D</a:t>
            </a:r>
            <a:r>
              <a:rPr lang="en-US" sz="3600"/>
              <a:t> là lớp kế thừa từ lớp cơ sở B</a:t>
            </a:r>
            <a:endParaRPr/>
          </a:p>
          <a:p>
            <a:pPr indent="-228600" lvl="1" marL="685800" rtl="0" algn="just">
              <a:lnSpc>
                <a:spcPct val="90000"/>
              </a:lnSpc>
              <a:spcBef>
                <a:spcPts val="500"/>
              </a:spcBef>
              <a:spcAft>
                <a:spcPts val="0"/>
              </a:spcAft>
              <a:buClr>
                <a:schemeClr val="dk1"/>
              </a:buClr>
              <a:buSzPts val="3200"/>
              <a:buChar char="•"/>
            </a:pPr>
            <a:r>
              <a:rPr lang="en-US" sz="3200"/>
              <a:t>Đối tượng của lớp dẫn xuất </a:t>
            </a:r>
            <a:r>
              <a:rPr b="1" lang="en-US" sz="3200"/>
              <a:t>D</a:t>
            </a:r>
            <a:r>
              <a:rPr lang="en-US" sz="3200"/>
              <a:t> có thể được gán cho đối tượng của lớp cơ sở </a:t>
            </a:r>
            <a:r>
              <a:rPr b="1" lang="en-US" sz="3200"/>
              <a:t>B</a:t>
            </a:r>
            <a:endParaRPr/>
          </a:p>
          <a:p>
            <a:pPr indent="-228600" lvl="1" marL="685800" rtl="0" algn="just">
              <a:lnSpc>
                <a:spcPct val="90000"/>
              </a:lnSpc>
              <a:spcBef>
                <a:spcPts val="500"/>
              </a:spcBef>
              <a:spcAft>
                <a:spcPts val="0"/>
              </a:spcAft>
              <a:buClr>
                <a:schemeClr val="dk1"/>
              </a:buClr>
              <a:buSzPts val="3200"/>
              <a:buChar char="•"/>
            </a:pPr>
            <a:r>
              <a:rPr lang="en-US" sz="3200"/>
              <a:t>Nhưng ngược lại thì không thể!</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Ép kiểu</a:t>
            </a:r>
            <a:endParaRPr/>
          </a:p>
        </p:txBody>
      </p:sp>
      <p:sp>
        <p:nvSpPr>
          <p:cNvPr id="396" name="Google Shape;39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97" name="Google Shape;39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Xét ví dụ:</a:t>
            </a:r>
            <a:endParaRPr/>
          </a:p>
          <a:p>
            <a:pPr indent="-228600" lvl="0" marL="228600" rtl="0" algn="l">
              <a:lnSpc>
                <a:spcPct val="90000"/>
              </a:lnSpc>
              <a:spcBef>
                <a:spcPts val="1000"/>
              </a:spcBef>
              <a:spcAft>
                <a:spcPts val="0"/>
              </a:spcAft>
              <a:buClr>
                <a:schemeClr val="dk1"/>
              </a:buClr>
              <a:buSzPts val="2800"/>
              <a:buNone/>
            </a:pPr>
            <a:r>
              <a:rPr lang="en-US"/>
              <a:t>	</a:t>
            </a:r>
            <a:r>
              <a:rPr i="1" lang="en-US"/>
              <a:t>Pet vpet;</a:t>
            </a:r>
            <a:br>
              <a:rPr i="1" lang="en-US"/>
            </a:br>
            <a:r>
              <a:rPr i="1" lang="en-US"/>
              <a:t>Dog vdog;</a:t>
            </a:r>
            <a:br>
              <a:rPr i="1" lang="en-US"/>
            </a:br>
            <a:r>
              <a:rPr i="1" lang="en-US"/>
              <a:t>…</a:t>
            </a:r>
            <a:br>
              <a:rPr i="1" lang="en-US"/>
            </a:br>
            <a:r>
              <a:rPr i="1" lang="en-US"/>
              <a:t>vdog = </a:t>
            </a:r>
            <a:r>
              <a:rPr i="1" lang="en-US">
                <a:solidFill>
                  <a:srgbClr val="FF0000"/>
                </a:solidFill>
              </a:rPr>
              <a:t>static_cast</a:t>
            </a:r>
            <a:r>
              <a:rPr i="1" lang="en-US"/>
              <a:t>&lt;Dog*&gt;(vpet);</a:t>
            </a:r>
            <a:r>
              <a:rPr lang="en-US"/>
              <a:t> 	</a:t>
            </a:r>
            <a:r>
              <a:rPr i="1" lang="en-US"/>
              <a:t>// Không hợp lệ!</a:t>
            </a:r>
            <a:endParaRPr/>
          </a:p>
          <a:p>
            <a:pPr indent="-228600" lvl="0" marL="228600" rtl="0" algn="l">
              <a:lnSpc>
                <a:spcPct val="90000"/>
              </a:lnSpc>
              <a:spcBef>
                <a:spcPts val="1000"/>
              </a:spcBef>
              <a:spcAft>
                <a:spcPts val="0"/>
              </a:spcAft>
              <a:buClr>
                <a:schemeClr val="dk1"/>
              </a:buClr>
              <a:buSzPts val="2800"/>
              <a:buChar char="•"/>
            </a:pPr>
            <a:r>
              <a:rPr lang="en-US"/>
              <a:t>Không thể ép một </a:t>
            </a:r>
            <a:r>
              <a:rPr i="1" lang="en-US"/>
              <a:t>pet</a:t>
            </a:r>
            <a:r>
              <a:rPr lang="en-US"/>
              <a:t> thành một </a:t>
            </a:r>
            <a:r>
              <a:rPr i="1" lang="en-US"/>
              <a:t>dog</a:t>
            </a:r>
            <a:r>
              <a:rPr lang="en-US"/>
              <a:t>, nhưng:</a:t>
            </a:r>
            <a:endParaRPr/>
          </a:p>
          <a:p>
            <a:pPr indent="-228600" lvl="0" marL="228600" rtl="0" algn="l">
              <a:lnSpc>
                <a:spcPct val="90000"/>
              </a:lnSpc>
              <a:spcBef>
                <a:spcPts val="1000"/>
              </a:spcBef>
              <a:spcAft>
                <a:spcPts val="0"/>
              </a:spcAft>
              <a:buClr>
                <a:schemeClr val="dk1"/>
              </a:buClr>
              <a:buSzPts val="2800"/>
              <a:buNone/>
            </a:pPr>
            <a:r>
              <a:rPr lang="en-US"/>
              <a:t>	</a:t>
            </a:r>
            <a:r>
              <a:rPr i="1" lang="en-US"/>
              <a:t>vpet = vdog;</a:t>
            </a:r>
            <a:r>
              <a:rPr lang="en-US"/>
              <a:t>				</a:t>
            </a:r>
            <a:r>
              <a:rPr i="1" lang="en-US"/>
              <a:t>// Hợp lệ!</a:t>
            </a:r>
            <a:br>
              <a:rPr lang="en-US"/>
            </a:br>
            <a:r>
              <a:rPr i="1" lang="en-US"/>
              <a:t>vpet = </a:t>
            </a:r>
            <a:r>
              <a:rPr i="1" lang="en-US">
                <a:solidFill>
                  <a:srgbClr val="FF0000"/>
                </a:solidFill>
              </a:rPr>
              <a:t>static_cast</a:t>
            </a:r>
            <a:r>
              <a:rPr i="1" lang="en-US"/>
              <a:t>&lt;Pet*&gt;(vdog);</a:t>
            </a:r>
            <a:r>
              <a:rPr lang="en-US"/>
              <a:t>  	</a:t>
            </a:r>
            <a:r>
              <a:rPr i="1" lang="en-US"/>
              <a:t>// Hợp lệ!</a:t>
            </a:r>
            <a:endParaRPr/>
          </a:p>
          <a:p>
            <a:pPr indent="-228600" lvl="0" marL="228600" rtl="0" algn="l">
              <a:lnSpc>
                <a:spcPct val="90000"/>
              </a:lnSpc>
              <a:spcBef>
                <a:spcPts val="1000"/>
              </a:spcBef>
              <a:spcAft>
                <a:spcPts val="0"/>
              </a:spcAft>
              <a:buClr>
                <a:schemeClr val="dk1"/>
              </a:buClr>
              <a:buSzPts val="2800"/>
              <a:buChar char="•"/>
            </a:pPr>
            <a:r>
              <a:rPr lang="en-US"/>
              <a:t>Ép kiểu lên (upcasting) là hợp lệ</a:t>
            </a:r>
            <a:endParaRPr/>
          </a:p>
          <a:p>
            <a:pPr indent="-228600" lvl="1" marL="685800" rtl="0" algn="l">
              <a:lnSpc>
                <a:spcPct val="90000"/>
              </a:lnSpc>
              <a:spcBef>
                <a:spcPts val="500"/>
              </a:spcBef>
              <a:spcAft>
                <a:spcPts val="0"/>
              </a:spcAft>
              <a:buClr>
                <a:schemeClr val="dk1"/>
              </a:buClr>
              <a:buSzPts val="2400"/>
              <a:buChar char="•"/>
            </a:pPr>
            <a:r>
              <a:rPr lang="en-US"/>
              <a:t>Ép từ kiểu con cháu lên kiểu tổ tiên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Ép kiểu xuống</a:t>
            </a:r>
            <a:endParaRPr/>
          </a:p>
        </p:txBody>
      </p:sp>
      <p:sp>
        <p:nvSpPr>
          <p:cNvPr id="403" name="Google Shape;40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04" name="Google Shape;404;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Ép kiểu xuống rất nguy hiểm!</a:t>
            </a:r>
            <a:endParaRPr/>
          </a:p>
          <a:p>
            <a:pPr indent="-228600" lvl="1" marL="685800" rtl="0" algn="l">
              <a:lnSpc>
                <a:spcPct val="90000"/>
              </a:lnSpc>
              <a:spcBef>
                <a:spcPts val="500"/>
              </a:spcBef>
              <a:spcAft>
                <a:spcPts val="0"/>
              </a:spcAft>
              <a:buClr>
                <a:schemeClr val="dk1"/>
              </a:buClr>
              <a:buSzPts val="2400"/>
              <a:buChar char="•"/>
            </a:pPr>
            <a:r>
              <a:rPr lang="en-US"/>
              <a:t>Ép từ kiểu tổ tiên thành kiểu con cháu</a:t>
            </a:r>
            <a:endParaRPr/>
          </a:p>
          <a:p>
            <a:pPr indent="-228600" lvl="1" marL="685800" rtl="0" algn="l">
              <a:lnSpc>
                <a:spcPct val="90000"/>
              </a:lnSpc>
              <a:spcBef>
                <a:spcPts val="500"/>
              </a:spcBef>
              <a:spcAft>
                <a:spcPts val="0"/>
              </a:spcAft>
              <a:buClr>
                <a:schemeClr val="dk1"/>
              </a:buClr>
              <a:buSzPts val="2400"/>
              <a:buChar char="•"/>
            </a:pPr>
            <a:r>
              <a:rPr lang="en-US"/>
              <a:t>Giả sử thông tin được thêm vào</a:t>
            </a:r>
            <a:endParaRPr/>
          </a:p>
          <a:p>
            <a:pPr indent="-228600" lvl="1" marL="685800" rtl="0" algn="l">
              <a:lnSpc>
                <a:spcPct val="90000"/>
              </a:lnSpc>
              <a:spcBef>
                <a:spcPts val="500"/>
              </a:spcBef>
              <a:spcAft>
                <a:spcPts val="0"/>
              </a:spcAft>
              <a:buClr>
                <a:schemeClr val="dk1"/>
              </a:buClr>
              <a:buSzPts val="2400"/>
              <a:buChar char="•"/>
            </a:pPr>
            <a:r>
              <a:rPr lang="en-US"/>
              <a:t>Có thể được thực hiện với </a:t>
            </a:r>
            <a:r>
              <a:rPr i="1" lang="en-US"/>
              <a:t>dynamic_cast</a:t>
            </a:r>
            <a:endParaRPr/>
          </a:p>
          <a:p>
            <a:pPr indent="-228600" lvl="1" marL="685800" rtl="0" algn="l">
              <a:lnSpc>
                <a:spcPct val="90000"/>
              </a:lnSpc>
              <a:spcBef>
                <a:spcPts val="500"/>
              </a:spcBef>
              <a:spcAft>
                <a:spcPts val="0"/>
              </a:spcAft>
              <a:buClr>
                <a:schemeClr val="dk1"/>
              </a:buClr>
              <a:buSzPts val="2400"/>
              <a:buNone/>
            </a:pPr>
            <a:r>
              <a:rPr lang="en-US"/>
              <a:t>	</a:t>
            </a:r>
            <a:r>
              <a:rPr i="1" lang="en-US"/>
              <a:t>Pet *ppet;</a:t>
            </a:r>
            <a:br>
              <a:rPr i="1" lang="en-US"/>
            </a:br>
            <a:r>
              <a:rPr i="1" lang="en-US"/>
              <a:t>ppet = new Dog;</a:t>
            </a:r>
            <a:br>
              <a:rPr i="1" lang="en-US"/>
            </a:br>
            <a:r>
              <a:rPr i="1" lang="en-US"/>
              <a:t>Dog *pdog = </a:t>
            </a:r>
            <a:r>
              <a:rPr i="1" lang="en-US">
                <a:solidFill>
                  <a:srgbClr val="FF0000"/>
                </a:solidFill>
              </a:rPr>
              <a:t>dynamic_cast</a:t>
            </a:r>
            <a:r>
              <a:rPr i="1" lang="en-US"/>
              <a:t>&lt;Dog*&gt;(ppet);</a:t>
            </a:r>
            <a:endParaRPr/>
          </a:p>
          <a:p>
            <a:pPr indent="-228600" lvl="2" marL="1143000" rtl="0" algn="l">
              <a:lnSpc>
                <a:spcPct val="90000"/>
              </a:lnSpc>
              <a:spcBef>
                <a:spcPts val="500"/>
              </a:spcBef>
              <a:spcAft>
                <a:spcPts val="0"/>
              </a:spcAft>
              <a:buClr>
                <a:schemeClr val="dk1"/>
              </a:buClr>
              <a:buSzPts val="2400"/>
              <a:buChar char="•"/>
            </a:pPr>
            <a:r>
              <a:rPr lang="en-US" sz="2400"/>
              <a:t>Hợp lệ, nhưng nguy hiểm</a:t>
            </a:r>
            <a:endParaRPr/>
          </a:p>
          <a:p>
            <a:pPr indent="-228600" lvl="0" marL="228600" rtl="0" algn="l">
              <a:lnSpc>
                <a:spcPct val="90000"/>
              </a:lnSpc>
              <a:spcBef>
                <a:spcPts val="1000"/>
              </a:spcBef>
              <a:spcAft>
                <a:spcPts val="0"/>
              </a:spcAft>
              <a:buClr>
                <a:schemeClr val="dk1"/>
              </a:buClr>
              <a:buSzPts val="2800"/>
              <a:buChar char="•"/>
            </a:pPr>
            <a:r>
              <a:rPr lang="en-US"/>
              <a:t>Ép kiểu xuống hiếm khi dùng do một số nhược điểm</a:t>
            </a:r>
            <a:endParaRPr/>
          </a:p>
          <a:p>
            <a:pPr indent="-228600" lvl="1" marL="685800" rtl="0" algn="l">
              <a:lnSpc>
                <a:spcPct val="90000"/>
              </a:lnSpc>
              <a:spcBef>
                <a:spcPts val="500"/>
              </a:spcBef>
              <a:spcAft>
                <a:spcPts val="0"/>
              </a:spcAft>
              <a:buClr>
                <a:schemeClr val="dk1"/>
              </a:buClr>
              <a:buSzPts val="2400"/>
              <a:buChar char="•"/>
            </a:pPr>
            <a:r>
              <a:rPr lang="en-US"/>
              <a:t>Phải kiểm tra xem tất cả thông tin có được thêm vào hay không</a:t>
            </a:r>
            <a:endParaRPr/>
          </a:p>
          <a:p>
            <a:pPr indent="-228600" lvl="1" marL="685800" rtl="0" algn="l">
              <a:lnSpc>
                <a:spcPct val="90000"/>
              </a:lnSpc>
              <a:spcBef>
                <a:spcPts val="500"/>
              </a:spcBef>
              <a:spcAft>
                <a:spcPts val="0"/>
              </a:spcAft>
              <a:buClr>
                <a:schemeClr val="dk1"/>
              </a:buClr>
              <a:buSzPts val="2400"/>
              <a:buChar char="•"/>
            </a:pPr>
            <a:r>
              <a:rPr lang="en-US"/>
              <a:t>Tất cả hàm thành viên phải là hàm ảo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10" name="Google Shape;410;p25"/>
          <p:cNvPicPr preferRelativeResize="0"/>
          <p:nvPr/>
        </p:nvPicPr>
        <p:blipFill rotWithShape="1">
          <a:blip r:embed="rId3">
            <a:alphaModFix/>
          </a:blip>
          <a:srcRect b="0" l="0" r="0" t="0"/>
          <a:stretch/>
        </p:blipFill>
        <p:spPr>
          <a:xfrm>
            <a:off x="1208567" y="0"/>
            <a:ext cx="9460260" cy="4257117"/>
          </a:xfrm>
          <a:prstGeom prst="rect">
            <a:avLst/>
          </a:prstGeom>
          <a:noFill/>
          <a:ln>
            <a:noFill/>
          </a:ln>
        </p:spPr>
      </p:pic>
      <p:pic>
        <p:nvPicPr>
          <p:cNvPr id="411" name="Google Shape;411;p25"/>
          <p:cNvPicPr preferRelativeResize="0"/>
          <p:nvPr/>
        </p:nvPicPr>
        <p:blipFill rotWithShape="1">
          <a:blip r:embed="rId4">
            <a:alphaModFix/>
          </a:blip>
          <a:srcRect b="0" l="0" r="0" t="0"/>
          <a:stretch/>
        </p:blipFill>
        <p:spPr>
          <a:xfrm>
            <a:off x="2473741" y="4257117"/>
            <a:ext cx="7244518" cy="26008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 2</a:t>
            </a:r>
            <a:endParaRPr/>
          </a:p>
        </p:txBody>
      </p:sp>
      <p:sp>
        <p:nvSpPr>
          <p:cNvPr id="417" name="Google Shape;41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b="1" lang="en-US" sz="2400"/>
              <a:t>Lớp trừu tượng Employee</a:t>
            </a:r>
            <a:endParaRPr sz="2400"/>
          </a:p>
          <a:p>
            <a:pPr indent="-228600" lvl="1" marL="685800" rtl="0" algn="just">
              <a:lnSpc>
                <a:spcPct val="90000"/>
              </a:lnSpc>
              <a:spcBef>
                <a:spcPts val="500"/>
              </a:spcBef>
              <a:spcAft>
                <a:spcPts val="0"/>
              </a:spcAft>
              <a:buClr>
                <a:schemeClr val="dk1"/>
              </a:buClr>
              <a:buSzPts val="1800"/>
              <a:buChar char="•"/>
            </a:pPr>
            <a:r>
              <a:rPr lang="en-US" sz="1800"/>
              <a:t>Đây là lớp trừ tượng lưu thông tin chung về nhân viên.</a:t>
            </a:r>
            <a:endParaRPr/>
          </a:p>
          <a:p>
            <a:pPr indent="-228600" lvl="1" marL="685800" rtl="0" algn="just">
              <a:lnSpc>
                <a:spcPct val="90000"/>
              </a:lnSpc>
              <a:spcBef>
                <a:spcPts val="500"/>
              </a:spcBef>
              <a:spcAft>
                <a:spcPts val="0"/>
              </a:spcAft>
              <a:buClr>
                <a:schemeClr val="dk1"/>
              </a:buClr>
              <a:buSzPts val="1800"/>
              <a:buChar char="•"/>
            </a:pPr>
            <a:r>
              <a:rPr lang="en-US" sz="1800"/>
              <a:t>name, paymentPerHour lần lượt là các thuộc tính chỉ tên và số tiền mà nhân viên nhận được trên 1 giờ làm việc.</a:t>
            </a:r>
            <a:endParaRPr/>
          </a:p>
          <a:p>
            <a:pPr indent="-228600" lvl="1" marL="685800" rtl="0" algn="just">
              <a:lnSpc>
                <a:spcPct val="90000"/>
              </a:lnSpc>
              <a:spcBef>
                <a:spcPts val="500"/>
              </a:spcBef>
              <a:spcAft>
                <a:spcPts val="0"/>
              </a:spcAft>
              <a:buClr>
                <a:schemeClr val="dk1"/>
              </a:buClr>
              <a:buSzPts val="1800"/>
              <a:buChar char="•"/>
            </a:pPr>
            <a:r>
              <a:rPr lang="en-US" sz="1800"/>
              <a:t>Employee(name: String, paymentPerHour: int) là phương thức khởi tạo có tham số dùng để khởi tạo giá trị cho các thuộc tính.</a:t>
            </a:r>
            <a:endParaRPr/>
          </a:p>
          <a:p>
            <a:pPr indent="-228600" lvl="1" marL="685800" rtl="0" algn="just">
              <a:lnSpc>
                <a:spcPct val="90000"/>
              </a:lnSpc>
              <a:spcBef>
                <a:spcPts val="500"/>
              </a:spcBef>
              <a:spcAft>
                <a:spcPts val="0"/>
              </a:spcAft>
              <a:buClr>
                <a:schemeClr val="dk1"/>
              </a:buClr>
              <a:buSzPts val="1800"/>
              <a:buChar char="•"/>
            </a:pPr>
            <a:r>
              <a:rPr lang="en-US" sz="1800"/>
              <a:t>setName(), getName(), setPaymentPerHour(), getPaymentPerHour() là các setter và getter.</a:t>
            </a:r>
            <a:endParaRPr/>
          </a:p>
          <a:p>
            <a:pPr indent="-228600" lvl="1" marL="685800" rtl="0" algn="just">
              <a:lnSpc>
                <a:spcPct val="90000"/>
              </a:lnSpc>
              <a:spcBef>
                <a:spcPts val="500"/>
              </a:spcBef>
              <a:spcAft>
                <a:spcPts val="0"/>
              </a:spcAft>
              <a:buClr>
                <a:schemeClr val="dk1"/>
              </a:buClr>
              <a:buSzPts val="1800"/>
              <a:buChar char="•"/>
            </a:pPr>
            <a:r>
              <a:rPr lang="en-US" sz="1800"/>
              <a:t>calculateSalary() là phương thức trừu tượng được dùng để tính lương cho nhân viên.</a:t>
            </a:r>
            <a:endParaRPr/>
          </a:p>
        </p:txBody>
      </p:sp>
      <p:sp>
        <p:nvSpPr>
          <p:cNvPr id="418" name="Google Shape;41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 2</a:t>
            </a:r>
            <a:endParaRPr/>
          </a:p>
        </p:txBody>
      </p:sp>
      <p:sp>
        <p:nvSpPr>
          <p:cNvPr id="424" name="Google Shape;424;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1800"/>
              <a:buChar char="•"/>
            </a:pPr>
            <a:r>
              <a:rPr b="1" lang="en-US" sz="1800"/>
              <a:t>Lớp PartTimeEmployee</a:t>
            </a:r>
            <a:endParaRPr sz="1800"/>
          </a:p>
          <a:p>
            <a:pPr indent="-228600" lvl="1" marL="685800" rtl="0" algn="just">
              <a:lnSpc>
                <a:spcPct val="90000"/>
              </a:lnSpc>
              <a:spcBef>
                <a:spcPts val="500"/>
              </a:spcBef>
              <a:spcAft>
                <a:spcPts val="0"/>
              </a:spcAft>
              <a:buClr>
                <a:schemeClr val="dk1"/>
              </a:buClr>
              <a:buSzPts val="1800"/>
              <a:buChar char="•"/>
            </a:pPr>
            <a:r>
              <a:rPr lang="en-US" sz="1800"/>
              <a:t>Đây là lớp kế thừa từ lớp trừu tượng Employee</a:t>
            </a:r>
            <a:endParaRPr/>
          </a:p>
          <a:p>
            <a:pPr indent="-228600" lvl="1" marL="685800" rtl="0" algn="just">
              <a:lnSpc>
                <a:spcPct val="90000"/>
              </a:lnSpc>
              <a:spcBef>
                <a:spcPts val="500"/>
              </a:spcBef>
              <a:spcAft>
                <a:spcPts val="0"/>
              </a:spcAft>
              <a:buClr>
                <a:srgbClr val="FF0000"/>
              </a:buClr>
              <a:buSzPts val="1800"/>
              <a:buChar char="•"/>
            </a:pPr>
            <a:r>
              <a:rPr lang="en-US" sz="1800">
                <a:solidFill>
                  <a:srgbClr val="FF0000"/>
                </a:solidFill>
              </a:rPr>
              <a:t>workingHours</a:t>
            </a:r>
            <a:r>
              <a:rPr lang="en-US" sz="1800"/>
              <a:t> là thuộc tính chỉ số giờ làm việc trên 1 ngày của nhân viên.</a:t>
            </a:r>
            <a:endParaRPr/>
          </a:p>
          <a:p>
            <a:pPr indent="-228600" lvl="1" marL="685800" rtl="0" algn="just">
              <a:lnSpc>
                <a:spcPct val="90000"/>
              </a:lnSpc>
              <a:spcBef>
                <a:spcPts val="500"/>
              </a:spcBef>
              <a:spcAft>
                <a:spcPts val="0"/>
              </a:spcAft>
              <a:buClr>
                <a:srgbClr val="FF0000"/>
              </a:buClr>
              <a:buSzPts val="1800"/>
              <a:buChar char="•"/>
            </a:pPr>
            <a:r>
              <a:rPr lang="en-US" sz="1800">
                <a:solidFill>
                  <a:srgbClr val="FF0000"/>
                </a:solidFill>
              </a:rPr>
              <a:t>calculateSalary()</a:t>
            </a:r>
            <a:r>
              <a:rPr lang="en-US" sz="1800"/>
              <a:t> là phương thức ghi đè từ lớp trừu tượng Employee, phương thức này trả về tiền lương của nhân viên part-time theo công thức: </a:t>
            </a:r>
            <a:r>
              <a:rPr lang="en-US" sz="1800">
                <a:solidFill>
                  <a:srgbClr val="FF0000"/>
                </a:solidFill>
              </a:rPr>
              <a:t>workingHours * paymentPerHour</a:t>
            </a:r>
            <a:r>
              <a:rPr lang="en-US" sz="1800"/>
              <a:t>.</a:t>
            </a:r>
            <a:endParaRPr/>
          </a:p>
          <a:p>
            <a:pPr indent="-228600" lvl="0" marL="228600" rtl="0" algn="just">
              <a:lnSpc>
                <a:spcPct val="90000"/>
              </a:lnSpc>
              <a:spcBef>
                <a:spcPts val="1000"/>
              </a:spcBef>
              <a:spcAft>
                <a:spcPts val="0"/>
              </a:spcAft>
              <a:buClr>
                <a:schemeClr val="dk1"/>
              </a:buClr>
              <a:buSzPts val="1800"/>
              <a:buChar char="•"/>
            </a:pPr>
            <a:r>
              <a:rPr b="1" lang="en-US" sz="1800"/>
              <a:t>Lớp FullTimeEmployee</a:t>
            </a:r>
            <a:endParaRPr sz="1800"/>
          </a:p>
          <a:p>
            <a:pPr indent="-228600" lvl="1" marL="685800" rtl="0" algn="just">
              <a:lnSpc>
                <a:spcPct val="90000"/>
              </a:lnSpc>
              <a:spcBef>
                <a:spcPts val="500"/>
              </a:spcBef>
              <a:spcAft>
                <a:spcPts val="0"/>
              </a:spcAft>
              <a:buClr>
                <a:schemeClr val="dk1"/>
              </a:buClr>
              <a:buSzPts val="1800"/>
              <a:buChar char="•"/>
            </a:pPr>
            <a:r>
              <a:rPr lang="en-US" sz="1800"/>
              <a:t>Đây là lớp kế thừa từ lớp trừu tượng Employee</a:t>
            </a:r>
            <a:endParaRPr/>
          </a:p>
          <a:p>
            <a:pPr indent="-228600" lvl="1" marL="685800" rtl="0" algn="just">
              <a:lnSpc>
                <a:spcPct val="90000"/>
              </a:lnSpc>
              <a:spcBef>
                <a:spcPts val="500"/>
              </a:spcBef>
              <a:spcAft>
                <a:spcPts val="0"/>
              </a:spcAft>
              <a:buClr>
                <a:srgbClr val="FF0000"/>
              </a:buClr>
              <a:buSzPts val="1800"/>
              <a:buChar char="•"/>
            </a:pPr>
            <a:r>
              <a:rPr lang="en-US" sz="1800">
                <a:solidFill>
                  <a:srgbClr val="FF0000"/>
                </a:solidFill>
              </a:rPr>
              <a:t>calculateSalary()</a:t>
            </a:r>
            <a:r>
              <a:rPr lang="en-US" sz="1800"/>
              <a:t> là phương thức ghi đè từ lớp trừ tượng Employee, phương thức này trả về tiền lương của nhân viên full-time theo công thức: </a:t>
            </a:r>
            <a:r>
              <a:rPr lang="en-US" sz="1800">
                <a:solidFill>
                  <a:srgbClr val="FF0000"/>
                </a:solidFill>
              </a:rPr>
              <a:t>8 * paymentPerHour</a:t>
            </a:r>
            <a:r>
              <a:rPr lang="en-US" sz="1800"/>
              <a:t> (nhân viên full time luôn làm việc 8 tiếng một ngày nên lớp FullTimeEmployee không có thuộc tính workingHours)</a:t>
            </a:r>
            <a:endParaRPr/>
          </a:p>
          <a:p>
            <a:pPr indent="-114300" lvl="0" marL="228600" rtl="0" algn="just">
              <a:lnSpc>
                <a:spcPct val="90000"/>
              </a:lnSpc>
              <a:spcBef>
                <a:spcPts val="1000"/>
              </a:spcBef>
              <a:spcAft>
                <a:spcPts val="0"/>
              </a:spcAft>
              <a:buClr>
                <a:schemeClr val="dk1"/>
              </a:buClr>
              <a:buSzPts val="1800"/>
              <a:buNone/>
            </a:pPr>
            <a:r>
              <a:t/>
            </a:r>
            <a:endParaRPr sz="1800"/>
          </a:p>
        </p:txBody>
      </p:sp>
      <p:sp>
        <p:nvSpPr>
          <p:cNvPr id="425" name="Google Shape;42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Bài tập 2</a:t>
            </a:r>
            <a:endParaRPr/>
          </a:p>
        </p:txBody>
      </p:sp>
      <p:sp>
        <p:nvSpPr>
          <p:cNvPr id="431" name="Google Shape;43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32" name="Google Shape;432;p28"/>
          <p:cNvPicPr preferRelativeResize="0"/>
          <p:nvPr/>
        </p:nvPicPr>
        <p:blipFill rotWithShape="1">
          <a:blip r:embed="rId3">
            <a:alphaModFix/>
          </a:blip>
          <a:srcRect b="0" l="0" r="0" t="0"/>
          <a:stretch/>
        </p:blipFill>
        <p:spPr>
          <a:xfrm>
            <a:off x="1687366" y="1977093"/>
            <a:ext cx="8817269" cy="316552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2020-10-20T03:13:59Z</dcterms:created>
  <dc:creator>Microsoft Office User</dc:creator>
</cp:coreProperties>
</file>